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0.svg" ContentType="image/svg+xml"/>
  <Override PartName="/ppt/media/image-1-12.svg" ContentType="image/svg+xml"/>
  <Override PartName="/ppt/media/image-1-14.svg" ContentType="image/svg+xml"/>
  <Override PartName="/ppt/media/image-1-16.svg" ContentType="image/svg+xml"/>
  <Override PartName="/ppt/media/image-1-18.svg" ContentType="image/svg+xml"/>
  <Override PartName="/ppt/media/image-1-2.svg" ContentType="image/svg+xml"/>
  <Override PartName="/ppt/media/image-1-20.svg" ContentType="image/svg+xml"/>
  <Override PartName="/ppt/media/image-1-22.svg" ContentType="image/svg+xml"/>
  <Override PartName="/ppt/media/image-1-25.svg" ContentType="image/svg+xml"/>
  <Override PartName="/ppt/media/image-1-27.svg" ContentType="image/svg+xml"/>
  <Override PartName="/ppt/media/image-1-29.svg" ContentType="image/svg+xml"/>
  <Override PartName="/ppt/media/image-1-31.svg" ContentType="image/svg+xml"/>
  <Override PartName="/ppt/media/image-1-33.svg" ContentType="image/svg+xml"/>
  <Override PartName="/ppt/media/image-1-36.svg" ContentType="image/svg+xml"/>
  <Override PartName="/ppt/media/image-1-38.svg" ContentType="image/svg+xml"/>
  <Override PartName="/ppt/media/image-1-4.svg" ContentType="image/svg+xml"/>
  <Override PartName="/ppt/media/image-1-40.svg" ContentType="image/svg+xml"/>
  <Override PartName="/ppt/media/image-1-42.svg" ContentType="image/svg+xml"/>
  <Override PartName="/ppt/media/image-1-44.svg" ContentType="image/svg+xml"/>
  <Override PartName="/ppt/media/image-1-46.svg" ContentType="image/svg+xml"/>
  <Override PartName="/ppt/media/image-1-48.svg" ContentType="image/svg+xml"/>
  <Override PartName="/ppt/media/image-1-51.svg" ContentType="image/svg+xml"/>
  <Override PartName="/ppt/media/image-1-53.svg" ContentType="image/svg+xml"/>
  <Override PartName="/ppt/media/image-1-55.svg" ContentType="image/svg+xml"/>
  <Override PartName="/ppt/media/image-1-57.svg" ContentType="image/svg+xml"/>
  <Override PartName="/ppt/media/image-1-59.svg" ContentType="image/svg+xml"/>
  <Override PartName="/ppt/media/image-1-6.svg" ContentType="image/svg+xml"/>
  <Override PartName="/ppt/media/image-1-61.svg" ContentType="image/svg+xml"/>
  <Override PartName="/ppt/media/image-1-63.svg" ContentType="image/svg+xml"/>
  <Override PartName="/ppt/media/image-1-66.svg" ContentType="image/svg+xml"/>
  <Override PartName="/ppt/media/image-1-68.svg" ContentType="image/svg+xml"/>
  <Override PartName="/ppt/media/image-1-70.svg" ContentType="image/svg+xml"/>
  <Override PartName="/ppt/media/image-1-72.svg" ContentType="image/svg+xml"/>
  <Override PartName="/ppt/media/image-1-74.svg" ContentType="image/svg+xml"/>
  <Override PartName="/ppt/media/image-1-76.svg" ContentType="image/svg+xml"/>
  <Override PartName="/ppt/media/image-1-79.svg" ContentType="image/svg+xml"/>
  <Override PartName="/ppt/media/image-1-8.svg" ContentType="image/svg+xml"/>
  <Override PartName="/ppt/media/image-1-81.svg" ContentType="image/svg+xml"/>
  <Override PartName="/ppt/media/image-1-83.svg" ContentType="image/svg+xml"/>
  <Override PartName="/ppt/media/image-1-85.svg" ContentType="image/svg+xml"/>
  <Override PartName="/ppt/media/image-1-87.svg" ContentType="image/svg+xml"/>
  <Override PartName="/ppt/media/image-1-89.svg" ContentType="image/svg+xml"/>
  <Override PartName="/ppt/media/image-1-91.svg" ContentType="image/svg+xml"/>
  <Override PartName="/ppt/media/image-2-11.svg" ContentType="image/svg+xml"/>
  <Override PartName="/ppt/media/image-2-14.svg" ContentType="image/svg+xml"/>
  <Override PartName="/ppt/media/image-2-2.svg" ContentType="image/svg+xml"/>
  <Override PartName="/ppt/media/image-2-4.svg" ContentType="image/svg+xml"/>
  <Override PartName="/ppt/media/image-2-6.svg" ContentType="image/svg+xml"/>
  <Override PartName="/ppt/media/image-2-8.svg" ContentType="image/svg+xml"/>
  <Override PartName="/ppt/media/image-3-11.svg" ContentType="image/svg+xml"/>
  <Override PartName="/ppt/media/image-3-14.svg" ContentType="image/svg+xml"/>
  <Override PartName="/ppt/media/image-3-16.svg" ContentType="image/svg+xml"/>
  <Override PartName="/ppt/media/image-3-18.svg" ContentType="image/svg+xml"/>
  <Override PartName="/ppt/media/image-3-2.svg" ContentType="image/svg+xml"/>
  <Override PartName="/ppt/media/image-3-20.svg" ContentType="image/svg+xml"/>
  <Override PartName="/ppt/media/image-3-22.svg" ContentType="image/svg+xml"/>
  <Override PartName="/ppt/media/image-3-24.svg" ContentType="image/svg+xml"/>
  <Override PartName="/ppt/media/image-3-26.svg" ContentType="image/svg+xml"/>
  <Override PartName="/ppt/media/image-3-29.svg" ContentType="image/svg+xml"/>
  <Override PartName="/ppt/media/image-3-31.svg" ContentType="image/svg+xml"/>
  <Override PartName="/ppt/media/image-3-33.svg" ContentType="image/svg+xml"/>
  <Override PartName="/ppt/media/image-3-35.svg" ContentType="image/svg+xml"/>
  <Override PartName="/ppt/media/image-3-37.svg" ContentType="image/svg+xml"/>
  <Override PartName="/ppt/media/image-3-39.svg" ContentType="image/svg+xml"/>
  <Override PartName="/ppt/media/image-3-4.svg" ContentType="image/svg+xml"/>
  <Override PartName="/ppt/media/image-3-41.svg" ContentType="image/svg+xml"/>
  <Override PartName="/ppt/media/image-3-44.svg" ContentType="image/svg+xml"/>
  <Override PartName="/ppt/media/image-3-46.svg" ContentType="image/svg+xml"/>
  <Override PartName="/ppt/media/image-3-48.svg" ContentType="image/svg+xml"/>
  <Override PartName="/ppt/media/image-3-50.svg" ContentType="image/svg+xml"/>
  <Override PartName="/ppt/media/image-3-52.svg" ContentType="image/svg+xml"/>
  <Override PartName="/ppt/media/image-3-54.svg" ContentType="image/svg+xml"/>
  <Override PartName="/ppt/media/image-3-57.svg" ContentType="image/svg+xml"/>
  <Override PartName="/ppt/media/image-3-59.svg" ContentType="image/svg+xml"/>
  <Override PartName="/ppt/media/image-3-6.svg" ContentType="image/svg+xml"/>
  <Override PartName="/ppt/media/image-3-61.svg" ContentType="image/svg+xml"/>
  <Override PartName="/ppt/media/image-3-63.svg" ContentType="image/svg+xml"/>
  <Override PartName="/ppt/media/image-3-65.svg" ContentType="image/svg+xml"/>
  <Override PartName="/ppt/media/image-3-67.svg" ContentType="image/svg+xml"/>
  <Override PartName="/ppt/media/image-3-70.svg" ContentType="image/svg+xml"/>
  <Override PartName="/ppt/media/image-3-72.svg" ContentType="image/svg+xml"/>
  <Override PartName="/ppt/media/image-3-74.svg" ContentType="image/svg+xml"/>
  <Override PartName="/ppt/media/image-3-76.svg" ContentType="image/svg+xml"/>
  <Override PartName="/ppt/media/image-3-78.svg" ContentType="image/svg+xml"/>
  <Override PartName="/ppt/media/image-3-8.svg" ContentType="image/svg+xml"/>
  <Override PartName="/ppt/media/image-3-80.svg" ContentType="image/svg+xml"/>
  <Override PartName="/ppt/media/image-3-83.svg" ContentType="image/svg+xml"/>
  <Override PartName="/ppt/media/image-3-85.svg" ContentType="image/svg+xml"/>
  <Override PartName="/ppt/media/image-3-87.svg" ContentType="image/svg+xml"/>
  <Override PartName="/ppt/media/image-3-89.svg" ContentType="image/svg+xml"/>
  <Override PartName="/ppt/media/image-3-91.svg" ContentType="image/svg+xml"/>
  <Override PartName="/ppt/media/image-3-93.svg" ContentType="image/svg+xml"/>
  <Override PartName="/ppt/media/image-3-95.svg" ContentType="image/svg+xml"/>
  <Override PartName="/ppt/media/image-4-14.svg" ContentType="image/svg+xml"/>
  <Override PartName="/ppt/media/image-4-16.svg" ContentType="image/svg+xml"/>
  <Override PartName="/ppt/media/image-4-18.svg" ContentType="image/svg+xml"/>
  <Override PartName="/ppt/media/image-4-2.svg" ContentType="image/svg+xml"/>
  <Override PartName="/ppt/media/image-4-20.svg" ContentType="image/svg+xml"/>
  <Override PartName="/ppt/media/image-4-22.svg" ContentType="image/svg+xml"/>
  <Override PartName="/ppt/media/image-4-24.svg" ContentType="image/svg+xml"/>
  <Override PartName="/ppt/media/image-4-26.svg" ContentType="image/svg+xml"/>
  <Override PartName="/ppt/media/image-4-28.svg" ContentType="image/svg+xml"/>
  <Override PartName="/ppt/media/image-4-30.svg" ContentType="image/svg+xml"/>
  <Override PartName="/ppt/media/image-4-32.svg" ContentType="image/svg+xml"/>
  <Override PartName="/ppt/media/image-4-34.svg" ContentType="image/svg+xml"/>
  <Override PartName="/ppt/media/image-4-36.svg" ContentType="image/svg+xml"/>
  <Override PartName="/ppt/media/image-4-38.svg" ContentType="image/svg+xml"/>
  <Override PartName="/ppt/media/image-4-4.svg" ContentType="image/svg+xml"/>
  <Override PartName="/ppt/media/image-4-6.svg" ContentType="image/svg+xml"/>
  <Override PartName="/ppt/media/image-5-10.svg" ContentType="image/svg+xml"/>
  <Override PartName="/ppt/media/image-5-12.svg" ContentType="image/svg+xml"/>
  <Override PartName="/ppt/media/image-5-14.svg" ContentType="image/svg+xml"/>
  <Override PartName="/ppt/media/image-5-17.svg" ContentType="image/svg+xml"/>
  <Override PartName="/ppt/media/image-5-19.svg" ContentType="image/svg+xml"/>
  <Override PartName="/ppt/media/image-5-2.svg" ContentType="image/svg+xml"/>
  <Override PartName="/ppt/media/image-5-21.svg" ContentType="image/svg+xml"/>
  <Override PartName="/ppt/media/image-5-23.svg" ContentType="image/svg+xml"/>
  <Override PartName="/ppt/media/image-5-26.svg" ContentType="image/svg+xml"/>
  <Override PartName="/ppt/media/image-5-28.svg" ContentType="image/svg+xml"/>
  <Override PartName="/ppt/media/image-5-30.svg" ContentType="image/svg+xml"/>
  <Override PartName="/ppt/media/image-5-32.svg" ContentType="image/svg+xml"/>
  <Override PartName="/ppt/media/image-5-4.svg" ContentType="image/svg+xml"/>
  <Override PartName="/ppt/media/image-5-6.svg" ContentType="image/svg+xml"/>
  <Override PartName="/ppt/media/image-5-8.svg" ContentType="image/svg+xml"/>
  <Override PartName="/ppt/media/image-6-10.svg" ContentType="image/svg+xml"/>
  <Override PartName="/ppt/media/image-6-12.svg" ContentType="image/svg+xml"/>
  <Override PartName="/ppt/media/image-6-14.svg" ContentType="image/svg+xml"/>
  <Override PartName="/ppt/media/image-6-2.svg" ContentType="image/svg+xml"/>
  <Override PartName="/ppt/media/image-6-20.svg" ContentType="image/svg+xml"/>
  <Override PartName="/ppt/media/image-6-24.svg" ContentType="image/svg+xml"/>
  <Override PartName="/ppt/media/image-6-4.svg" ContentType="image/svg+xml"/>
  <Override PartName="/ppt/media/image-6-6.svg" ContentType="image/svg+xml"/>
  <Override PartName="/ppt/media/image-6-8.svg" ContentType="image/svg+xml"/>
  <Override PartName="/ppt/media/image-7-10.svg" ContentType="image/svg+xml"/>
  <Override PartName="/ppt/media/image-7-12.svg" ContentType="image/svg+xml"/>
  <Override PartName="/ppt/media/image-7-14.svg" ContentType="image/svg+xml"/>
  <Override PartName="/ppt/media/image-7-16.svg" ContentType="image/svg+xml"/>
  <Override PartName="/ppt/media/image-7-18.svg" ContentType="image/svg+xml"/>
  <Override PartName="/ppt/media/image-7-2.svg" ContentType="image/svg+xml"/>
  <Override PartName="/ppt/media/image-7-20.svg" ContentType="image/svg+xml"/>
  <Override PartName="/ppt/media/image-7-22.svg" ContentType="image/svg+xml"/>
  <Override PartName="/ppt/media/image-7-24.svg" ContentType="image/svg+xml"/>
  <Override PartName="/ppt/media/image-7-26.svg" ContentType="image/svg+xml"/>
  <Override PartName="/ppt/media/image-7-28.svg" ContentType="image/svg+xml"/>
  <Override PartName="/ppt/media/image-7-30.svg" ContentType="image/svg+xml"/>
  <Override PartName="/ppt/media/image-7-32.svg" ContentType="image/svg+xml"/>
  <Override PartName="/ppt/media/image-7-4.svg" ContentType="image/svg+xml"/>
  <Override PartName="/ppt/media/image-7-6.svg" ContentType="image/svg+xml"/>
  <Override PartName="/ppt/media/image-7-8.svg" ContentType="image/svg+xml"/>
  <Override PartName="/ppt/media/image-8-10.svg" ContentType="image/svg+xml"/>
  <Override PartName="/ppt/media/image-8-12.svg" ContentType="image/svg+xml"/>
  <Override PartName="/ppt/media/image-8-14.svg" ContentType="image/svg+xml"/>
  <Override PartName="/ppt/media/image-8-16.svg" ContentType="image/svg+xml"/>
  <Override PartName="/ppt/media/image-8-18.svg" ContentType="image/svg+xml"/>
  <Override PartName="/ppt/media/image-8-2.svg" ContentType="image/svg+xml"/>
  <Override PartName="/ppt/media/image-8-20.svg" ContentType="image/svg+xml"/>
  <Override PartName="/ppt/media/image-8-22.svg" ContentType="image/svg+xml"/>
  <Override PartName="/ppt/media/image-8-4.svg" ContentType="image/svg+xml"/>
  <Override PartName="/ppt/media/image-8-6.svg" ContentType="image/svg+xml"/>
  <Override PartName="/ppt/media/image-8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1887200" cy="9966960"/>
  <p:notesSz cx="123825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jpeg"/><Relationship Id="rId24" Type="http://schemas.openxmlformats.org/officeDocument/2006/relationships/image" Target="../media/image-1-24.png"/><Relationship Id="rId25" Type="http://schemas.openxmlformats.org/officeDocument/2006/relationships/image" Target="../media/image-1-25.svg"/><Relationship Id="rId26" Type="http://schemas.openxmlformats.org/officeDocument/2006/relationships/image" Target="../media/image-1-26.png"/><Relationship Id="rId27" Type="http://schemas.openxmlformats.org/officeDocument/2006/relationships/image" Target="../media/image-1-27.svg"/><Relationship Id="rId28" Type="http://schemas.openxmlformats.org/officeDocument/2006/relationships/image" Target="../media/image-1-28.png"/><Relationship Id="rId29" Type="http://schemas.openxmlformats.org/officeDocument/2006/relationships/image" Target="../media/image-1-29.svg"/><Relationship Id="rId30" Type="http://schemas.openxmlformats.org/officeDocument/2006/relationships/image" Target="../media/image-1-30.png"/><Relationship Id="rId31" Type="http://schemas.openxmlformats.org/officeDocument/2006/relationships/image" Target="../media/image-1-31.svg"/><Relationship Id="rId32" Type="http://schemas.openxmlformats.org/officeDocument/2006/relationships/image" Target="../media/image-1-32.png"/><Relationship Id="rId33" Type="http://schemas.openxmlformats.org/officeDocument/2006/relationships/image" Target="../media/image-1-33.svg"/><Relationship Id="rId34" Type="http://schemas.openxmlformats.org/officeDocument/2006/relationships/image" Target="../media/image-1-34.jpeg"/><Relationship Id="rId35" Type="http://schemas.openxmlformats.org/officeDocument/2006/relationships/image" Target="../media/image-1-35.png"/><Relationship Id="rId36" Type="http://schemas.openxmlformats.org/officeDocument/2006/relationships/image" Target="../media/image-1-36.svg"/><Relationship Id="rId37" Type="http://schemas.openxmlformats.org/officeDocument/2006/relationships/image" Target="../media/image-1-37.png"/><Relationship Id="rId38" Type="http://schemas.openxmlformats.org/officeDocument/2006/relationships/image" Target="../media/image-1-38.svg"/><Relationship Id="rId39" Type="http://schemas.openxmlformats.org/officeDocument/2006/relationships/image" Target="../media/image-1-39.png"/><Relationship Id="rId40" Type="http://schemas.openxmlformats.org/officeDocument/2006/relationships/image" Target="../media/image-1-40.svg"/><Relationship Id="rId41" Type="http://schemas.openxmlformats.org/officeDocument/2006/relationships/image" Target="../media/image-1-41.png"/><Relationship Id="rId42" Type="http://schemas.openxmlformats.org/officeDocument/2006/relationships/image" Target="../media/image-1-42.svg"/><Relationship Id="rId43" Type="http://schemas.openxmlformats.org/officeDocument/2006/relationships/image" Target="../media/image-1-43.png"/><Relationship Id="rId44" Type="http://schemas.openxmlformats.org/officeDocument/2006/relationships/image" Target="../media/image-1-44.svg"/><Relationship Id="rId45" Type="http://schemas.openxmlformats.org/officeDocument/2006/relationships/image" Target="../media/image-1-45.png"/><Relationship Id="rId46" Type="http://schemas.openxmlformats.org/officeDocument/2006/relationships/image" Target="../media/image-1-46.svg"/><Relationship Id="rId47" Type="http://schemas.openxmlformats.org/officeDocument/2006/relationships/image" Target="../media/image-1-47.png"/><Relationship Id="rId48" Type="http://schemas.openxmlformats.org/officeDocument/2006/relationships/image" Target="../media/image-1-48.svg"/><Relationship Id="rId49" Type="http://schemas.openxmlformats.org/officeDocument/2006/relationships/image" Target="../media/image-1-49.jpeg"/><Relationship Id="rId50" Type="http://schemas.openxmlformats.org/officeDocument/2006/relationships/image" Target="../media/image-1-50.png"/><Relationship Id="rId51" Type="http://schemas.openxmlformats.org/officeDocument/2006/relationships/image" Target="../media/image-1-51.svg"/><Relationship Id="rId52" Type="http://schemas.openxmlformats.org/officeDocument/2006/relationships/image" Target="../media/image-1-52.png"/><Relationship Id="rId53" Type="http://schemas.openxmlformats.org/officeDocument/2006/relationships/image" Target="../media/image-1-53.svg"/><Relationship Id="rId54" Type="http://schemas.openxmlformats.org/officeDocument/2006/relationships/image" Target="../media/image-1-54.png"/><Relationship Id="rId55" Type="http://schemas.openxmlformats.org/officeDocument/2006/relationships/image" Target="../media/image-1-55.svg"/><Relationship Id="rId56" Type="http://schemas.openxmlformats.org/officeDocument/2006/relationships/image" Target="../media/image-1-56.png"/><Relationship Id="rId57" Type="http://schemas.openxmlformats.org/officeDocument/2006/relationships/image" Target="../media/image-1-57.svg"/><Relationship Id="rId58" Type="http://schemas.openxmlformats.org/officeDocument/2006/relationships/image" Target="../media/image-1-58.png"/><Relationship Id="rId59" Type="http://schemas.openxmlformats.org/officeDocument/2006/relationships/image" Target="../media/image-1-59.svg"/><Relationship Id="rId60" Type="http://schemas.openxmlformats.org/officeDocument/2006/relationships/image" Target="../media/image-1-60.png"/><Relationship Id="rId61" Type="http://schemas.openxmlformats.org/officeDocument/2006/relationships/image" Target="../media/image-1-61.svg"/><Relationship Id="rId62" Type="http://schemas.openxmlformats.org/officeDocument/2006/relationships/image" Target="../media/image-1-62.png"/><Relationship Id="rId63" Type="http://schemas.openxmlformats.org/officeDocument/2006/relationships/image" Target="../media/image-1-63.svg"/><Relationship Id="rId64" Type="http://schemas.openxmlformats.org/officeDocument/2006/relationships/image" Target="../media/image-1-64.jpeg"/><Relationship Id="rId65" Type="http://schemas.openxmlformats.org/officeDocument/2006/relationships/image" Target="../media/image-1-65.png"/><Relationship Id="rId66" Type="http://schemas.openxmlformats.org/officeDocument/2006/relationships/image" Target="../media/image-1-66.svg"/><Relationship Id="rId67" Type="http://schemas.openxmlformats.org/officeDocument/2006/relationships/image" Target="../media/image-1-67.png"/><Relationship Id="rId68" Type="http://schemas.openxmlformats.org/officeDocument/2006/relationships/image" Target="../media/image-1-68.svg"/><Relationship Id="rId69" Type="http://schemas.openxmlformats.org/officeDocument/2006/relationships/image" Target="../media/image-1-69.png"/><Relationship Id="rId70" Type="http://schemas.openxmlformats.org/officeDocument/2006/relationships/image" Target="../media/image-1-70.svg"/><Relationship Id="rId71" Type="http://schemas.openxmlformats.org/officeDocument/2006/relationships/image" Target="../media/image-1-71.png"/><Relationship Id="rId72" Type="http://schemas.openxmlformats.org/officeDocument/2006/relationships/image" Target="../media/image-1-72.svg"/><Relationship Id="rId73" Type="http://schemas.openxmlformats.org/officeDocument/2006/relationships/image" Target="../media/image-1-73.png"/><Relationship Id="rId74" Type="http://schemas.openxmlformats.org/officeDocument/2006/relationships/image" Target="../media/image-1-74.svg"/><Relationship Id="rId75" Type="http://schemas.openxmlformats.org/officeDocument/2006/relationships/image" Target="../media/image-1-75.png"/><Relationship Id="rId76" Type="http://schemas.openxmlformats.org/officeDocument/2006/relationships/image" Target="../media/image-1-76.svg"/><Relationship Id="rId77" Type="http://schemas.openxmlformats.org/officeDocument/2006/relationships/image" Target="../media/image-1-77.jpeg"/><Relationship Id="rId78" Type="http://schemas.openxmlformats.org/officeDocument/2006/relationships/image" Target="../media/image-1-78.png"/><Relationship Id="rId79" Type="http://schemas.openxmlformats.org/officeDocument/2006/relationships/image" Target="../media/image-1-79.svg"/><Relationship Id="rId80" Type="http://schemas.openxmlformats.org/officeDocument/2006/relationships/image" Target="../media/image-1-80.png"/><Relationship Id="rId81" Type="http://schemas.openxmlformats.org/officeDocument/2006/relationships/image" Target="../media/image-1-81.svg"/><Relationship Id="rId82" Type="http://schemas.openxmlformats.org/officeDocument/2006/relationships/image" Target="../media/image-1-82.png"/><Relationship Id="rId83" Type="http://schemas.openxmlformats.org/officeDocument/2006/relationships/image" Target="../media/image-1-83.svg"/><Relationship Id="rId84" Type="http://schemas.openxmlformats.org/officeDocument/2006/relationships/image" Target="../media/image-1-84.png"/><Relationship Id="rId85" Type="http://schemas.openxmlformats.org/officeDocument/2006/relationships/image" Target="../media/image-1-85.svg"/><Relationship Id="rId86" Type="http://schemas.openxmlformats.org/officeDocument/2006/relationships/image" Target="../media/image-1-86.png"/><Relationship Id="rId87" Type="http://schemas.openxmlformats.org/officeDocument/2006/relationships/image" Target="../media/image-1-87.svg"/><Relationship Id="rId88" Type="http://schemas.openxmlformats.org/officeDocument/2006/relationships/image" Target="../media/image-1-88.png"/><Relationship Id="rId89" Type="http://schemas.openxmlformats.org/officeDocument/2006/relationships/image" Target="../media/image-1-89.svg"/><Relationship Id="rId90" Type="http://schemas.openxmlformats.org/officeDocument/2006/relationships/image" Target="../media/image-1-90.png"/><Relationship Id="rId91" Type="http://schemas.openxmlformats.org/officeDocument/2006/relationships/image" Target="../media/image-1-91.svg"/><Relationship Id="rId92" Type="http://schemas.openxmlformats.org/officeDocument/2006/relationships/slideLayout" Target="../slideLayouts/slideLayout1.xml"/><Relationship Id="rId9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sv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image" Target="../media/image-3-12.jpe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image" Target="../media/image-3-21.png"/><Relationship Id="rId22" Type="http://schemas.openxmlformats.org/officeDocument/2006/relationships/image" Target="../media/image-3-22.svg"/><Relationship Id="rId23" Type="http://schemas.openxmlformats.org/officeDocument/2006/relationships/image" Target="../media/image-3-23.png"/><Relationship Id="rId24" Type="http://schemas.openxmlformats.org/officeDocument/2006/relationships/image" Target="../media/image-3-24.svg"/><Relationship Id="rId25" Type="http://schemas.openxmlformats.org/officeDocument/2006/relationships/image" Target="../media/image-3-25.png"/><Relationship Id="rId26" Type="http://schemas.openxmlformats.org/officeDocument/2006/relationships/image" Target="../media/image-3-26.svg"/><Relationship Id="rId27" Type="http://schemas.openxmlformats.org/officeDocument/2006/relationships/image" Target="../media/image-3-27.jpeg"/><Relationship Id="rId28" Type="http://schemas.openxmlformats.org/officeDocument/2006/relationships/image" Target="../media/image-3-28.png"/><Relationship Id="rId29" Type="http://schemas.openxmlformats.org/officeDocument/2006/relationships/image" Target="../media/image-3-29.svg"/><Relationship Id="rId30" Type="http://schemas.openxmlformats.org/officeDocument/2006/relationships/image" Target="../media/image-3-30.png"/><Relationship Id="rId31" Type="http://schemas.openxmlformats.org/officeDocument/2006/relationships/image" Target="../media/image-3-31.svg"/><Relationship Id="rId32" Type="http://schemas.openxmlformats.org/officeDocument/2006/relationships/image" Target="../media/image-3-32.png"/><Relationship Id="rId33" Type="http://schemas.openxmlformats.org/officeDocument/2006/relationships/image" Target="../media/image-3-33.svg"/><Relationship Id="rId34" Type="http://schemas.openxmlformats.org/officeDocument/2006/relationships/image" Target="../media/image-3-34.png"/><Relationship Id="rId35" Type="http://schemas.openxmlformats.org/officeDocument/2006/relationships/image" Target="../media/image-3-35.svg"/><Relationship Id="rId36" Type="http://schemas.openxmlformats.org/officeDocument/2006/relationships/image" Target="../media/image-3-36.png"/><Relationship Id="rId37" Type="http://schemas.openxmlformats.org/officeDocument/2006/relationships/image" Target="../media/image-3-37.svg"/><Relationship Id="rId38" Type="http://schemas.openxmlformats.org/officeDocument/2006/relationships/image" Target="../media/image-3-38.png"/><Relationship Id="rId39" Type="http://schemas.openxmlformats.org/officeDocument/2006/relationships/image" Target="../media/image-3-39.svg"/><Relationship Id="rId40" Type="http://schemas.openxmlformats.org/officeDocument/2006/relationships/image" Target="../media/image-3-40.png"/><Relationship Id="rId41" Type="http://schemas.openxmlformats.org/officeDocument/2006/relationships/image" Target="../media/image-3-41.svg"/><Relationship Id="rId42" Type="http://schemas.openxmlformats.org/officeDocument/2006/relationships/image" Target="../media/image-3-42.jpeg"/><Relationship Id="rId43" Type="http://schemas.openxmlformats.org/officeDocument/2006/relationships/image" Target="../media/image-3-43.png"/><Relationship Id="rId44" Type="http://schemas.openxmlformats.org/officeDocument/2006/relationships/image" Target="../media/image-3-44.svg"/><Relationship Id="rId45" Type="http://schemas.openxmlformats.org/officeDocument/2006/relationships/image" Target="../media/image-3-45.png"/><Relationship Id="rId46" Type="http://schemas.openxmlformats.org/officeDocument/2006/relationships/image" Target="../media/image-3-46.svg"/><Relationship Id="rId47" Type="http://schemas.openxmlformats.org/officeDocument/2006/relationships/image" Target="../media/image-3-47.png"/><Relationship Id="rId48" Type="http://schemas.openxmlformats.org/officeDocument/2006/relationships/image" Target="../media/image-3-48.svg"/><Relationship Id="rId49" Type="http://schemas.openxmlformats.org/officeDocument/2006/relationships/image" Target="../media/image-3-49.png"/><Relationship Id="rId50" Type="http://schemas.openxmlformats.org/officeDocument/2006/relationships/image" Target="../media/image-3-50.svg"/><Relationship Id="rId51" Type="http://schemas.openxmlformats.org/officeDocument/2006/relationships/image" Target="../media/image-3-51.png"/><Relationship Id="rId52" Type="http://schemas.openxmlformats.org/officeDocument/2006/relationships/image" Target="../media/image-3-52.svg"/><Relationship Id="rId53" Type="http://schemas.openxmlformats.org/officeDocument/2006/relationships/image" Target="../media/image-3-53.png"/><Relationship Id="rId54" Type="http://schemas.openxmlformats.org/officeDocument/2006/relationships/image" Target="../media/image-3-54.svg"/><Relationship Id="rId55" Type="http://schemas.openxmlformats.org/officeDocument/2006/relationships/image" Target="../media/image-3-55.jpeg"/><Relationship Id="rId56" Type="http://schemas.openxmlformats.org/officeDocument/2006/relationships/image" Target="../media/image-3-56.png"/><Relationship Id="rId57" Type="http://schemas.openxmlformats.org/officeDocument/2006/relationships/image" Target="../media/image-3-57.svg"/><Relationship Id="rId58" Type="http://schemas.openxmlformats.org/officeDocument/2006/relationships/image" Target="../media/image-3-58.png"/><Relationship Id="rId59" Type="http://schemas.openxmlformats.org/officeDocument/2006/relationships/image" Target="../media/image-3-59.svg"/><Relationship Id="rId60" Type="http://schemas.openxmlformats.org/officeDocument/2006/relationships/image" Target="../media/image-3-60.png"/><Relationship Id="rId61" Type="http://schemas.openxmlformats.org/officeDocument/2006/relationships/image" Target="../media/image-3-61.svg"/><Relationship Id="rId62" Type="http://schemas.openxmlformats.org/officeDocument/2006/relationships/image" Target="../media/image-3-62.png"/><Relationship Id="rId63" Type="http://schemas.openxmlformats.org/officeDocument/2006/relationships/image" Target="../media/image-3-63.svg"/><Relationship Id="rId64" Type="http://schemas.openxmlformats.org/officeDocument/2006/relationships/image" Target="../media/image-3-64.png"/><Relationship Id="rId65" Type="http://schemas.openxmlformats.org/officeDocument/2006/relationships/image" Target="../media/image-3-65.svg"/><Relationship Id="rId66" Type="http://schemas.openxmlformats.org/officeDocument/2006/relationships/image" Target="../media/image-3-66.png"/><Relationship Id="rId67" Type="http://schemas.openxmlformats.org/officeDocument/2006/relationships/image" Target="../media/image-3-67.svg"/><Relationship Id="rId68" Type="http://schemas.openxmlformats.org/officeDocument/2006/relationships/image" Target="../media/image-3-68.jpeg"/><Relationship Id="rId69" Type="http://schemas.openxmlformats.org/officeDocument/2006/relationships/image" Target="../media/image-3-69.png"/><Relationship Id="rId70" Type="http://schemas.openxmlformats.org/officeDocument/2006/relationships/image" Target="../media/image-3-70.svg"/><Relationship Id="rId71" Type="http://schemas.openxmlformats.org/officeDocument/2006/relationships/image" Target="../media/image-3-71.png"/><Relationship Id="rId72" Type="http://schemas.openxmlformats.org/officeDocument/2006/relationships/image" Target="../media/image-3-72.svg"/><Relationship Id="rId73" Type="http://schemas.openxmlformats.org/officeDocument/2006/relationships/image" Target="../media/image-3-73.png"/><Relationship Id="rId74" Type="http://schemas.openxmlformats.org/officeDocument/2006/relationships/image" Target="../media/image-3-74.svg"/><Relationship Id="rId75" Type="http://schemas.openxmlformats.org/officeDocument/2006/relationships/image" Target="../media/image-3-75.png"/><Relationship Id="rId76" Type="http://schemas.openxmlformats.org/officeDocument/2006/relationships/image" Target="../media/image-3-76.svg"/><Relationship Id="rId77" Type="http://schemas.openxmlformats.org/officeDocument/2006/relationships/image" Target="../media/image-3-77.png"/><Relationship Id="rId78" Type="http://schemas.openxmlformats.org/officeDocument/2006/relationships/image" Target="../media/image-3-78.svg"/><Relationship Id="rId79" Type="http://schemas.openxmlformats.org/officeDocument/2006/relationships/image" Target="../media/image-3-79.png"/><Relationship Id="rId80" Type="http://schemas.openxmlformats.org/officeDocument/2006/relationships/image" Target="../media/image-3-80.svg"/><Relationship Id="rId81" Type="http://schemas.openxmlformats.org/officeDocument/2006/relationships/image" Target="../media/image-3-81.jpeg"/><Relationship Id="rId82" Type="http://schemas.openxmlformats.org/officeDocument/2006/relationships/image" Target="../media/image-3-82.png"/><Relationship Id="rId83" Type="http://schemas.openxmlformats.org/officeDocument/2006/relationships/image" Target="../media/image-3-83.svg"/><Relationship Id="rId84" Type="http://schemas.openxmlformats.org/officeDocument/2006/relationships/image" Target="../media/image-3-84.png"/><Relationship Id="rId85" Type="http://schemas.openxmlformats.org/officeDocument/2006/relationships/image" Target="../media/image-3-85.svg"/><Relationship Id="rId86" Type="http://schemas.openxmlformats.org/officeDocument/2006/relationships/image" Target="../media/image-3-86.png"/><Relationship Id="rId87" Type="http://schemas.openxmlformats.org/officeDocument/2006/relationships/image" Target="../media/image-3-87.svg"/><Relationship Id="rId88" Type="http://schemas.openxmlformats.org/officeDocument/2006/relationships/image" Target="../media/image-3-88.png"/><Relationship Id="rId89" Type="http://schemas.openxmlformats.org/officeDocument/2006/relationships/image" Target="../media/image-3-89.svg"/><Relationship Id="rId90" Type="http://schemas.openxmlformats.org/officeDocument/2006/relationships/image" Target="../media/image-3-90.png"/><Relationship Id="rId91" Type="http://schemas.openxmlformats.org/officeDocument/2006/relationships/image" Target="../media/image-3-91.svg"/><Relationship Id="rId92" Type="http://schemas.openxmlformats.org/officeDocument/2006/relationships/image" Target="../media/image-3-92.png"/><Relationship Id="rId93" Type="http://schemas.openxmlformats.org/officeDocument/2006/relationships/image" Target="../media/image-3-93.svg"/><Relationship Id="rId94" Type="http://schemas.openxmlformats.org/officeDocument/2006/relationships/image" Target="../media/image-3-94.png"/><Relationship Id="rId95" Type="http://schemas.openxmlformats.org/officeDocument/2006/relationships/image" Target="../media/image-3-95.svg"/><Relationship Id="rId96" Type="http://schemas.openxmlformats.org/officeDocument/2006/relationships/slideLayout" Target="../slideLayouts/slideLayout1.xml"/><Relationship Id="rId9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jpeg"/><Relationship Id="rId8" Type="http://schemas.openxmlformats.org/officeDocument/2006/relationships/image" Target="../media/image-4-8.jpeg"/><Relationship Id="rId9" Type="http://schemas.openxmlformats.org/officeDocument/2006/relationships/image" Target="../media/image-4-9.jpeg"/><Relationship Id="rId10" Type="http://schemas.openxmlformats.org/officeDocument/2006/relationships/image" Target="../media/image-4-10.jpeg"/><Relationship Id="rId11" Type="http://schemas.openxmlformats.org/officeDocument/2006/relationships/image" Target="../media/image-4-11.jpeg"/><Relationship Id="rId12" Type="http://schemas.openxmlformats.org/officeDocument/2006/relationships/image" Target="../media/image-4-12.jpe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image" Target="../media/image-4-25.png"/><Relationship Id="rId26" Type="http://schemas.openxmlformats.org/officeDocument/2006/relationships/image" Target="../media/image-4-26.svg"/><Relationship Id="rId27" Type="http://schemas.openxmlformats.org/officeDocument/2006/relationships/image" Target="../media/image-4-27.png"/><Relationship Id="rId28" Type="http://schemas.openxmlformats.org/officeDocument/2006/relationships/image" Target="../media/image-4-28.svg"/><Relationship Id="rId29" Type="http://schemas.openxmlformats.org/officeDocument/2006/relationships/image" Target="../media/image-4-29.png"/><Relationship Id="rId30" Type="http://schemas.openxmlformats.org/officeDocument/2006/relationships/image" Target="../media/image-4-30.svg"/><Relationship Id="rId31" Type="http://schemas.openxmlformats.org/officeDocument/2006/relationships/image" Target="../media/image-4-31.png"/><Relationship Id="rId32" Type="http://schemas.openxmlformats.org/officeDocument/2006/relationships/image" Target="../media/image-4-32.svg"/><Relationship Id="rId33" Type="http://schemas.openxmlformats.org/officeDocument/2006/relationships/image" Target="../media/image-4-33.png"/><Relationship Id="rId34" Type="http://schemas.openxmlformats.org/officeDocument/2006/relationships/image" Target="../media/image-4-34.svg"/><Relationship Id="rId35" Type="http://schemas.openxmlformats.org/officeDocument/2006/relationships/image" Target="../media/image-4-35.png"/><Relationship Id="rId36" Type="http://schemas.openxmlformats.org/officeDocument/2006/relationships/image" Target="../media/image-4-36.svg"/><Relationship Id="rId37" Type="http://schemas.openxmlformats.org/officeDocument/2006/relationships/image" Target="../media/image-4-37.png"/><Relationship Id="rId38" Type="http://schemas.openxmlformats.org/officeDocument/2006/relationships/image" Target="../media/image-4-38.sv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jpeg"/><Relationship Id="rId16" Type="http://schemas.openxmlformats.org/officeDocument/2006/relationships/image" Target="../media/image-5-16.png"/><Relationship Id="rId17" Type="http://schemas.openxmlformats.org/officeDocument/2006/relationships/image" Target="../media/image-5-17.svg"/><Relationship Id="rId18" Type="http://schemas.openxmlformats.org/officeDocument/2006/relationships/image" Target="../media/image-5-18.png"/><Relationship Id="rId19" Type="http://schemas.openxmlformats.org/officeDocument/2006/relationships/image" Target="../media/image-5-19.svg"/><Relationship Id="rId20" Type="http://schemas.openxmlformats.org/officeDocument/2006/relationships/image" Target="../media/image-5-20.png"/><Relationship Id="rId21" Type="http://schemas.openxmlformats.org/officeDocument/2006/relationships/image" Target="../media/image-5-21.svg"/><Relationship Id="rId22" Type="http://schemas.openxmlformats.org/officeDocument/2006/relationships/image" Target="../media/image-5-22.png"/><Relationship Id="rId23" Type="http://schemas.openxmlformats.org/officeDocument/2006/relationships/image" Target="../media/image-5-23.svg"/><Relationship Id="rId24" Type="http://schemas.openxmlformats.org/officeDocument/2006/relationships/image" Target="../media/image-5-24.jpeg"/><Relationship Id="rId25" Type="http://schemas.openxmlformats.org/officeDocument/2006/relationships/image" Target="../media/image-5-25.png"/><Relationship Id="rId26" Type="http://schemas.openxmlformats.org/officeDocument/2006/relationships/image" Target="../media/image-5-26.svg"/><Relationship Id="rId27" Type="http://schemas.openxmlformats.org/officeDocument/2006/relationships/image" Target="../media/image-5-27.png"/><Relationship Id="rId28" Type="http://schemas.openxmlformats.org/officeDocument/2006/relationships/image" Target="../media/image-5-28.svg"/><Relationship Id="rId29" Type="http://schemas.openxmlformats.org/officeDocument/2006/relationships/image" Target="../media/image-5-29.png"/><Relationship Id="rId30" Type="http://schemas.openxmlformats.org/officeDocument/2006/relationships/image" Target="../media/image-5-30.svg"/><Relationship Id="rId31" Type="http://schemas.openxmlformats.org/officeDocument/2006/relationships/image" Target="../media/image-5-31.png"/><Relationship Id="rId32" Type="http://schemas.openxmlformats.org/officeDocument/2006/relationships/image" Target="../media/image-5-32.sv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image" Target="../media/image-7-23.png"/><Relationship Id="rId24" Type="http://schemas.openxmlformats.org/officeDocument/2006/relationships/image" Target="../media/image-7-24.svg"/><Relationship Id="rId25" Type="http://schemas.openxmlformats.org/officeDocument/2006/relationships/image" Target="../media/image-7-25.png"/><Relationship Id="rId26" Type="http://schemas.openxmlformats.org/officeDocument/2006/relationships/image" Target="../media/image-7-26.svg"/><Relationship Id="rId27" Type="http://schemas.openxmlformats.org/officeDocument/2006/relationships/image" Target="../media/image-7-27.png"/><Relationship Id="rId28" Type="http://schemas.openxmlformats.org/officeDocument/2006/relationships/image" Target="../media/image-7-28.svg"/><Relationship Id="rId29" Type="http://schemas.openxmlformats.org/officeDocument/2006/relationships/image" Target="../media/image-7-29.png"/><Relationship Id="rId30" Type="http://schemas.openxmlformats.org/officeDocument/2006/relationships/image" Target="../media/image-7-30.svg"/><Relationship Id="rId31" Type="http://schemas.openxmlformats.org/officeDocument/2006/relationships/image" Target="../media/image-7-31.png"/><Relationship Id="rId32" Type="http://schemas.openxmlformats.org/officeDocument/2006/relationships/image" Target="../media/image-7-32.sv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svg"/><Relationship Id="rId19" Type="http://schemas.openxmlformats.org/officeDocument/2006/relationships/image" Target="../media/image-8-19.png"/><Relationship Id="rId20" Type="http://schemas.openxmlformats.org/officeDocument/2006/relationships/image" Target="../media/image-8-20.svg"/><Relationship Id="rId21" Type="http://schemas.openxmlformats.org/officeDocument/2006/relationships/image" Target="../media/image-8-21.png"/><Relationship Id="rId22" Type="http://schemas.openxmlformats.org/officeDocument/2006/relationships/image" Target="../media/image-8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384281" cy="685800"/>
          </a:xfrm>
          <a:prstGeom prst="rect">
            <a:avLst/>
          </a:prstGeom>
          <a:solidFill>
            <a:srgbClr val="3F4A1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714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563" y="252413"/>
            <a:ext cx="180975" cy="1809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8650" y="232410"/>
            <a:ext cx="75771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865239" y="255270"/>
            <a:ext cx="692825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</a:t>
            </a:r>
            <a:endParaRPr lang="en-US" sz="1088" dirty="0"/>
          </a:p>
        </p:txBody>
      </p:sp>
      <p:sp>
        <p:nvSpPr>
          <p:cNvPr id="7" name="Text 4"/>
          <p:cNvSpPr/>
          <p:nvPr/>
        </p:nvSpPr>
        <p:spPr>
          <a:xfrm>
            <a:off x="3748564" y="255270"/>
            <a:ext cx="793433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phòng</a:t>
            </a:r>
            <a:endParaRPr lang="en-US" sz="1088" dirty="0"/>
          </a:p>
        </p:txBody>
      </p:sp>
      <p:sp>
        <p:nvSpPr>
          <p:cNvPr id="8" name="Text 5"/>
          <p:cNvSpPr/>
          <p:nvPr/>
        </p:nvSpPr>
        <p:spPr>
          <a:xfrm>
            <a:off x="4732496" y="255270"/>
            <a:ext cx="567928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ghép</a:t>
            </a:r>
            <a:endParaRPr lang="en-US" sz="1088" dirty="0"/>
          </a:p>
        </p:txBody>
      </p:sp>
      <p:sp>
        <p:nvSpPr>
          <p:cNvPr id="9" name="Text 6"/>
          <p:cNvSpPr/>
          <p:nvPr/>
        </p:nvSpPr>
        <p:spPr>
          <a:xfrm>
            <a:off x="5490925" y="255270"/>
            <a:ext cx="827127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Cộng đồng</a:t>
            </a:r>
            <a:endParaRPr lang="en-US" sz="1088" dirty="0"/>
          </a:p>
        </p:txBody>
      </p:sp>
      <p:sp>
        <p:nvSpPr>
          <p:cNvPr id="10" name="Shape 7"/>
          <p:cNvSpPr/>
          <p:nvPr/>
        </p:nvSpPr>
        <p:spPr>
          <a:xfrm>
            <a:off x="7835027" y="177165"/>
            <a:ext cx="1531144" cy="331470"/>
          </a:xfrm>
          <a:prstGeom prst="roundRect">
            <a:avLst>
              <a:gd name="adj" fmla="val 28736"/>
            </a:avLst>
          </a:prstGeom>
          <a:solidFill>
            <a:srgbClr val="F5A52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7902" y="271463"/>
            <a:ext cx="142875" cy="1428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77927" y="262890"/>
            <a:ext cx="11215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tin cho thuê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9499521" y="262890"/>
            <a:ext cx="72878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0361652" y="177165"/>
            <a:ext cx="794028" cy="331470"/>
          </a:xfrm>
          <a:prstGeom prst="roundRect">
            <a:avLst>
              <a:gd name="adj" fmla="val 28736"/>
            </a:avLst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>
            <a:off x="10475952" y="262890"/>
            <a:ext cx="56542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28600" y="985599"/>
            <a:ext cx="5823662" cy="95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150" b="1" spc="-75" kern="0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phòng dễ dàng Sống trọn </a:t>
            </a:r>
            <a:pPr algn="l" indent="0" marL="0">
              <a:lnSpc>
                <a:spcPct val="115000"/>
              </a:lnSpc>
              <a:buNone/>
            </a:pPr>
            <a:r>
              <a:rPr lang="en-US" sz="3150" b="1" i="1" spc="-75" kern="0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thích</a:t>
            </a:r>
            <a:endParaRPr lang="en-US" sz="3150" dirty="0"/>
          </a:p>
        </p:txBody>
      </p:sp>
      <p:sp>
        <p:nvSpPr>
          <p:cNvPr id="17" name="Text 13"/>
          <p:cNvSpPr/>
          <p:nvPr/>
        </p:nvSpPr>
        <p:spPr>
          <a:xfrm>
            <a:off x="228600" y="2039064"/>
            <a:ext cx="431673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Roomsy giúp bạn tìm phòng trọ, căn hộ và tìm người ở ghép uy tín, nhanh chóng và an toàn.</a:t>
            </a:r>
            <a:endParaRPr lang="en-US" sz="1163" dirty="0"/>
          </a:p>
        </p:txBody>
      </p:sp>
      <p:sp>
        <p:nvSpPr>
          <p:cNvPr id="18" name="Shape 14"/>
          <p:cNvSpPr/>
          <p:nvPr/>
        </p:nvSpPr>
        <p:spPr>
          <a:xfrm>
            <a:off x="228600" y="2633424"/>
            <a:ext cx="5654040" cy="1293495"/>
          </a:xfrm>
          <a:prstGeom prst="roundRect">
            <a:avLst>
              <a:gd name="adj" fmla="val 11782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643062" y="2816304"/>
            <a:ext cx="9525" cy="424815"/>
          </a:xfrm>
          <a:prstGeom prst="rect">
            <a:avLst/>
          </a:prstGeom>
          <a:solidFill>
            <a:srgbClr val="E5E8D9"/>
          </a:solidFill>
          <a:ln/>
        </p:spPr>
      </p:sp>
      <p:sp>
        <p:nvSpPr>
          <p:cNvPr id="20" name="Text 16"/>
          <p:cNvSpPr/>
          <p:nvPr/>
        </p:nvSpPr>
        <p:spPr>
          <a:xfrm>
            <a:off x="445770" y="2873454"/>
            <a:ext cx="1159193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đang tìm gì?</a:t>
            </a:r>
            <a:endParaRPr lang="en-US" sz="863" dirty="0"/>
          </a:p>
        </p:txBody>
      </p:sp>
      <p:sp>
        <p:nvSpPr>
          <p:cNvPr id="21" name="Text 17"/>
          <p:cNvSpPr/>
          <p:nvPr/>
        </p:nvSpPr>
        <p:spPr>
          <a:xfrm>
            <a:off x="445770" y="3023949"/>
            <a:ext cx="65448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Phòng trọ</a:t>
            </a:r>
            <a:endParaRPr lang="en-US" sz="10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04938" y="3042046"/>
            <a:ext cx="123825" cy="12382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019425" y="2736294"/>
            <a:ext cx="9525" cy="584835"/>
          </a:xfrm>
          <a:prstGeom prst="rect">
            <a:avLst/>
          </a:prstGeom>
          <a:solidFill>
            <a:srgbClr val="E5E8D9"/>
          </a:solidFill>
          <a:ln/>
        </p:spPr>
      </p:sp>
      <p:sp>
        <p:nvSpPr>
          <p:cNvPr id="24" name="Text 19"/>
          <p:cNvSpPr/>
          <p:nvPr/>
        </p:nvSpPr>
        <p:spPr>
          <a:xfrm>
            <a:off x="1822133" y="2793444"/>
            <a:ext cx="1159193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 vực</a:t>
            </a:r>
            <a:endParaRPr lang="en-US" sz="863" dirty="0"/>
          </a:p>
        </p:txBody>
      </p:sp>
      <p:sp>
        <p:nvSpPr>
          <p:cNvPr id="25" name="Text 20"/>
          <p:cNvSpPr/>
          <p:nvPr/>
        </p:nvSpPr>
        <p:spPr>
          <a:xfrm>
            <a:off x="1822133" y="2943939"/>
            <a:ext cx="10026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TP. Hồ Chí Minh</a:t>
            </a:r>
            <a:endParaRPr lang="en-US" sz="10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86658" y="3042046"/>
            <a:ext cx="118467" cy="123825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4395788" y="2816304"/>
            <a:ext cx="9525" cy="424815"/>
          </a:xfrm>
          <a:prstGeom prst="rect">
            <a:avLst/>
          </a:prstGeom>
          <a:solidFill>
            <a:srgbClr val="E5E8D9"/>
          </a:solidFill>
          <a:ln/>
        </p:spPr>
      </p:sp>
      <p:sp>
        <p:nvSpPr>
          <p:cNvPr id="28" name="Text 22"/>
          <p:cNvSpPr/>
          <p:nvPr/>
        </p:nvSpPr>
        <p:spPr>
          <a:xfrm>
            <a:off x="3198495" y="2873454"/>
            <a:ext cx="1159193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giá</a:t>
            </a:r>
            <a:endParaRPr lang="en-US" sz="863" dirty="0"/>
          </a:p>
        </p:txBody>
      </p:sp>
      <p:sp>
        <p:nvSpPr>
          <p:cNvPr id="29" name="Text 23"/>
          <p:cNvSpPr/>
          <p:nvPr/>
        </p:nvSpPr>
        <p:spPr>
          <a:xfrm>
            <a:off x="3198495" y="3023949"/>
            <a:ext cx="63960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0 - 5 triệu</a:t>
            </a:r>
            <a:endParaRPr lang="en-US" sz="10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57663" y="3042046"/>
            <a:ext cx="123825" cy="12382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574858" y="2793444"/>
            <a:ext cx="1166812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lọc</a:t>
            </a:r>
            <a:endParaRPr lang="en-US" sz="863" dirty="0"/>
          </a:p>
        </p:txBody>
      </p:sp>
      <p:sp>
        <p:nvSpPr>
          <p:cNvPr id="32" name="Text 25"/>
          <p:cNvSpPr/>
          <p:nvPr/>
        </p:nvSpPr>
        <p:spPr>
          <a:xfrm>
            <a:off x="4574858" y="2943939"/>
            <a:ext cx="102715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Tiện ích, diện tích...</a:t>
            </a:r>
            <a:endParaRPr lang="en-US" sz="105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63910" y="3042046"/>
            <a:ext cx="101560" cy="123825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350520" y="3397329"/>
            <a:ext cx="5410200" cy="407670"/>
          </a:xfrm>
          <a:prstGeom prst="roundRect">
            <a:avLst>
              <a:gd name="adj" fmla="val 25701"/>
            </a:avLst>
          </a:prstGeom>
          <a:solidFill>
            <a:srgbClr val="3F4A1F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62238" y="3524964"/>
            <a:ext cx="152400" cy="1524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2881313" y="3521154"/>
            <a:ext cx="6438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</a:t>
            </a:r>
            <a:endParaRPr lang="en-US" sz="1088" dirty="0"/>
          </a:p>
        </p:txBody>
      </p:sp>
      <p:sp>
        <p:nvSpPr>
          <p:cNvPr id="37" name="Shape 28"/>
          <p:cNvSpPr/>
          <p:nvPr/>
        </p:nvSpPr>
        <p:spPr>
          <a:xfrm>
            <a:off x="228600" y="4174569"/>
            <a:ext cx="190500" cy="190500"/>
          </a:xfrm>
          <a:prstGeom prst="ellipse">
            <a:avLst/>
          </a:prstGeom>
          <a:solidFill>
            <a:srgbClr val="EDF0DF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66700" y="4212669"/>
            <a:ext cx="114300" cy="11430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95300" y="4193619"/>
            <a:ext cx="110073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 đăng xác thực</a:t>
            </a:r>
            <a:endParaRPr lang="en-US" sz="1013" dirty="0"/>
          </a:p>
        </p:txBody>
      </p:sp>
      <p:sp>
        <p:nvSpPr>
          <p:cNvPr id="40" name="Shape 30"/>
          <p:cNvSpPr/>
          <p:nvPr/>
        </p:nvSpPr>
        <p:spPr>
          <a:xfrm>
            <a:off x="2170390" y="4174569"/>
            <a:ext cx="190500" cy="190500"/>
          </a:xfrm>
          <a:prstGeom prst="ellipse">
            <a:avLst/>
          </a:prstGeom>
          <a:solidFill>
            <a:srgbClr val="EDF0DF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208490" y="4212669"/>
            <a:ext cx="114300" cy="11430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2437090" y="4193619"/>
            <a:ext cx="124110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 minh bạch</a:t>
            </a:r>
            <a:endParaRPr lang="en-US" sz="1013" dirty="0"/>
          </a:p>
        </p:txBody>
      </p:sp>
      <p:sp>
        <p:nvSpPr>
          <p:cNvPr id="43" name="Shape 32"/>
          <p:cNvSpPr/>
          <p:nvPr/>
        </p:nvSpPr>
        <p:spPr>
          <a:xfrm>
            <a:off x="4112181" y="4174569"/>
            <a:ext cx="190500" cy="190500"/>
          </a:xfrm>
          <a:prstGeom prst="ellipse">
            <a:avLst/>
          </a:prstGeom>
          <a:solidFill>
            <a:srgbClr val="EDF0DF"/>
          </a:solidFill>
          <a:ln/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150281" y="4212669"/>
            <a:ext cx="114300" cy="11430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4378881" y="4193619"/>
            <a:ext cx="125563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nối nhanh chóng</a:t>
            </a:r>
            <a:endParaRPr lang="en-US" sz="1013" dirty="0"/>
          </a:p>
        </p:txBody>
      </p:sp>
      <p:sp>
        <p:nvSpPr>
          <p:cNvPr id="46" name="Shape 34"/>
          <p:cNvSpPr/>
          <p:nvPr/>
        </p:nvSpPr>
        <p:spPr>
          <a:xfrm>
            <a:off x="228600" y="4460319"/>
            <a:ext cx="190500" cy="190500"/>
          </a:xfrm>
          <a:prstGeom prst="ellipse">
            <a:avLst/>
          </a:prstGeom>
          <a:solidFill>
            <a:srgbClr val="EDF0DF"/>
          </a:solidFill>
          <a:ln/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66700" y="4498419"/>
            <a:ext cx="114300" cy="11430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495300" y="4479369"/>
            <a:ext cx="10553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Cộng đồng uy tín</a:t>
            </a:r>
            <a:endParaRPr lang="en-US" sz="1013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23"/>
          <a:srcRect l="4947" r="4947" t="0" b="0"/>
          <a:stretch/>
        </p:blipFill>
        <p:spPr>
          <a:xfrm>
            <a:off x="6263640" y="1008459"/>
            <a:ext cx="4892040" cy="3619500"/>
          </a:xfrm>
          <a:prstGeom prst="rect">
            <a:avLst/>
          </a:prstGeom>
        </p:spPr>
      </p:pic>
      <p:sp>
        <p:nvSpPr>
          <p:cNvPr id="50" name="Shape 36"/>
          <p:cNvSpPr/>
          <p:nvPr/>
        </p:nvSpPr>
        <p:spPr>
          <a:xfrm>
            <a:off x="8812530" y="2852499"/>
            <a:ext cx="2476500" cy="2023110"/>
          </a:xfrm>
          <a:prstGeom prst="roundRect">
            <a:avLst>
              <a:gd name="adj" fmla="val 7533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  <a:effectLst>
            <a:outerShdw sx="100000" sy="100000" kx="0" ky="0" algn="bl" rotWithShape="0" blurRad="419100" dist="171450" dir="5400000">
              <a:srgbClr val="103C28">
                <a:alpha val="16000"/>
              </a:srgbClr>
            </a:outerShdw>
          </a:effectLst>
        </p:spPr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991600" y="3035379"/>
            <a:ext cx="152400" cy="152400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9210675" y="3031569"/>
            <a:ext cx="14773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Nâng cấp tài khoản VIP</a:t>
            </a:r>
            <a:endParaRPr lang="en-US" sz="1050" dirty="0"/>
          </a:p>
        </p:txBody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991600" y="3305889"/>
            <a:ext cx="123825" cy="123825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9182100" y="3286839"/>
            <a:ext cx="101477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Duyệt tin ưu tiên</a:t>
            </a:r>
            <a:endParaRPr lang="en-US" sz="938" dirty="0"/>
          </a:p>
        </p:txBody>
      </p:sp>
      <p:pic>
        <p:nvPicPr>
          <p:cNvPr id="55" name="Image 14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991600" y="3558302"/>
            <a:ext cx="123825" cy="123825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9182100" y="3539252"/>
            <a:ext cx="211462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Tặng lượt quảng bá tin mỗi tháng</a:t>
            </a:r>
            <a:endParaRPr lang="en-US" sz="938" dirty="0"/>
          </a:p>
        </p:txBody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991600" y="3810714"/>
            <a:ext cx="123825" cy="123825"/>
          </a:xfrm>
          <a:prstGeom prst="rect">
            <a:avLst/>
          </a:prstGeom>
        </p:spPr>
      </p:pic>
      <p:sp>
        <p:nvSpPr>
          <p:cNvPr id="58" name="Text 40"/>
          <p:cNvSpPr/>
          <p:nvPr/>
        </p:nvSpPr>
        <p:spPr>
          <a:xfrm>
            <a:off x="9182100" y="3791664"/>
            <a:ext cx="164876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Tặng lượt đẩy tin miễn phí</a:t>
            </a:r>
            <a:endParaRPr lang="en-US" sz="938" dirty="0"/>
          </a:p>
        </p:txBody>
      </p:sp>
      <p:pic>
        <p:nvPicPr>
          <p:cNvPr id="59" name="Image 16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991600" y="4063127"/>
            <a:ext cx="123825" cy="123825"/>
          </a:xfrm>
          <a:prstGeom prst="rect">
            <a:avLst/>
          </a:prstGeom>
        </p:spPr>
      </p:pic>
      <p:sp>
        <p:nvSpPr>
          <p:cNvPr id="60" name="Text 41"/>
          <p:cNvSpPr/>
          <p:nvPr/>
        </p:nvSpPr>
        <p:spPr>
          <a:xfrm>
            <a:off x="9182100" y="4044077"/>
            <a:ext cx="162859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Hỗ trợ khách hàng ưu tiên</a:t>
            </a:r>
            <a:endParaRPr lang="en-US" sz="938" dirty="0"/>
          </a:p>
        </p:txBody>
      </p:sp>
      <p:sp>
        <p:nvSpPr>
          <p:cNvPr id="61" name="Shape 42"/>
          <p:cNvSpPr/>
          <p:nvPr/>
        </p:nvSpPr>
        <p:spPr>
          <a:xfrm>
            <a:off x="8991600" y="4353639"/>
            <a:ext cx="2118360" cy="342900"/>
          </a:xfrm>
          <a:prstGeom prst="roundRect">
            <a:avLst>
              <a:gd name="adj" fmla="val 27778"/>
            </a:avLst>
          </a:prstGeom>
          <a:solidFill>
            <a:srgbClr val="F5A524"/>
          </a:solidFill>
          <a:ln/>
        </p:spPr>
      </p:sp>
      <p:sp>
        <p:nvSpPr>
          <p:cNvPr id="62" name="Text 43"/>
          <p:cNvSpPr/>
          <p:nvPr/>
        </p:nvSpPr>
        <p:spPr>
          <a:xfrm>
            <a:off x="9048750" y="4448889"/>
            <a:ext cx="20040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3A2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các gói VIP</a:t>
            </a:r>
            <a:endParaRPr lang="en-US" sz="1013" dirty="0"/>
          </a:p>
        </p:txBody>
      </p:sp>
      <p:sp>
        <p:nvSpPr>
          <p:cNvPr id="63" name="Shape 44"/>
          <p:cNvSpPr/>
          <p:nvPr/>
        </p:nvSpPr>
        <p:spPr>
          <a:xfrm>
            <a:off x="228600" y="5317569"/>
            <a:ext cx="2603183" cy="3122771"/>
          </a:xfrm>
          <a:prstGeom prst="roundRect">
            <a:avLst>
              <a:gd name="adj" fmla="val 6586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64" name="Image 17" descr="preencoded.png">    </p:cNvPr>
          <p:cNvPicPr>
            <a:picLocks noChangeAspect="1"/>
          </p:cNvPicPr>
          <p:nvPr/>
        </p:nvPicPr>
        <p:blipFill>
          <a:blip r:embed="rId34"/>
          <a:srcRect l="0" r="0" t="3073" b="3073"/>
          <a:stretch/>
        </p:blipFill>
        <p:spPr>
          <a:xfrm>
            <a:off x="236220" y="5325189"/>
            <a:ext cx="2587943" cy="1619250"/>
          </a:xfrm>
          <a:prstGeom prst="rect">
            <a:avLst/>
          </a:prstGeom>
        </p:spPr>
      </p:pic>
      <p:sp>
        <p:nvSpPr>
          <p:cNvPr id="65" name="Shape 45"/>
          <p:cNvSpPr/>
          <p:nvPr/>
        </p:nvSpPr>
        <p:spPr>
          <a:xfrm>
            <a:off x="350520" y="5439489"/>
            <a:ext cx="781050" cy="217170"/>
          </a:xfrm>
          <a:prstGeom prst="roundRect">
            <a:avLst>
              <a:gd name="adj" fmla="val 35088"/>
            </a:avLst>
          </a:prstGeom>
          <a:solidFill>
            <a:srgbClr val="3F4A1F"/>
          </a:solidFill>
          <a:ln/>
        </p:spPr>
      </p:sp>
      <p:pic>
        <p:nvPicPr>
          <p:cNvPr id="66" name="Image 18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45770" y="5490924"/>
            <a:ext cx="114300" cy="114300"/>
          </a:xfrm>
          <a:prstGeom prst="rect">
            <a:avLst/>
          </a:prstGeom>
        </p:spPr>
      </p:pic>
      <p:sp>
        <p:nvSpPr>
          <p:cNvPr id="67" name="Text 46"/>
          <p:cNvSpPr/>
          <p:nvPr/>
        </p:nvSpPr>
        <p:spPr>
          <a:xfrm>
            <a:off x="598170" y="5487114"/>
            <a:ext cx="5143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NỔI BẬT</a:t>
            </a:r>
            <a:endParaRPr lang="en-US" sz="863" dirty="0"/>
          </a:p>
        </p:txBody>
      </p:sp>
      <p:sp>
        <p:nvSpPr>
          <p:cNvPr id="68" name="Shape 47"/>
          <p:cNvSpPr/>
          <p:nvPr/>
        </p:nvSpPr>
        <p:spPr>
          <a:xfrm>
            <a:off x="2405063" y="5439489"/>
            <a:ext cx="304800" cy="30480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69" name="Image 19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481263" y="5515689"/>
            <a:ext cx="152400" cy="152400"/>
          </a:xfrm>
          <a:prstGeom prst="rect">
            <a:avLst/>
          </a:prstGeom>
        </p:spPr>
      </p:pic>
      <p:pic>
        <p:nvPicPr>
          <p:cNvPr id="70" name="Image 20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69570" y="7084456"/>
            <a:ext cx="123825" cy="123825"/>
          </a:xfrm>
          <a:prstGeom prst="rect">
            <a:avLst/>
          </a:prstGeom>
        </p:spPr>
      </p:pic>
      <p:sp>
        <p:nvSpPr>
          <p:cNvPr id="71" name="Text 48"/>
          <p:cNvSpPr/>
          <p:nvPr/>
        </p:nvSpPr>
        <p:spPr>
          <a:xfrm>
            <a:off x="521970" y="7077789"/>
            <a:ext cx="24169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38" dirty="0"/>
          </a:p>
        </p:txBody>
      </p:sp>
      <p:sp>
        <p:nvSpPr>
          <p:cNvPr id="72" name="Text 49"/>
          <p:cNvSpPr/>
          <p:nvPr/>
        </p:nvSpPr>
        <p:spPr>
          <a:xfrm>
            <a:off x="369570" y="7295912"/>
            <a:ext cx="2553367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6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Phòng ban công thoáng mát</a:t>
            </a:r>
            <a:endParaRPr lang="en-US" sz="1163" dirty="0"/>
          </a:p>
        </p:txBody>
      </p:sp>
      <p:pic>
        <p:nvPicPr>
          <p:cNvPr id="73" name="Image 21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69570" y="7540228"/>
            <a:ext cx="123825" cy="123825"/>
          </a:xfrm>
          <a:prstGeom prst="rect">
            <a:avLst/>
          </a:prstGeom>
        </p:spPr>
      </p:pic>
      <p:sp>
        <p:nvSpPr>
          <p:cNvPr id="74" name="Text 50"/>
          <p:cNvSpPr/>
          <p:nvPr/>
        </p:nvSpPr>
        <p:spPr>
          <a:xfrm>
            <a:off x="531495" y="7525940"/>
            <a:ext cx="15069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Quận 7, TP. Hồ Chí Minh</a:t>
            </a:r>
            <a:endParaRPr lang="en-US" sz="938" dirty="0"/>
          </a:p>
        </p:txBody>
      </p:sp>
      <p:sp>
        <p:nvSpPr>
          <p:cNvPr id="75" name="Text 51"/>
          <p:cNvSpPr/>
          <p:nvPr/>
        </p:nvSpPr>
        <p:spPr>
          <a:xfrm>
            <a:off x="369570" y="7773590"/>
            <a:ext cx="25533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4.500.000đ </a:t>
            </a:r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/tháng</a:t>
            </a:r>
            <a:endParaRPr lang="en-US" sz="1000" dirty="0"/>
          </a:p>
        </p:txBody>
      </p:sp>
      <p:sp>
        <p:nvSpPr>
          <p:cNvPr id="76" name="Shape 52"/>
          <p:cNvSpPr/>
          <p:nvPr/>
        </p:nvSpPr>
        <p:spPr>
          <a:xfrm>
            <a:off x="369570" y="8059340"/>
            <a:ext cx="2321242" cy="9525"/>
          </a:xfrm>
          <a:prstGeom prst="rect">
            <a:avLst/>
          </a:prstGeom>
          <a:solidFill>
            <a:srgbClr val="E5E8D9"/>
          </a:solidFill>
          <a:ln/>
        </p:spPr>
      </p:sp>
      <p:pic>
        <p:nvPicPr>
          <p:cNvPr id="77" name="Image 22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369570" y="8164115"/>
            <a:ext cx="133350" cy="133350"/>
          </a:xfrm>
          <a:prstGeom prst="rect">
            <a:avLst/>
          </a:prstGeom>
        </p:spPr>
      </p:pic>
      <p:sp>
        <p:nvSpPr>
          <p:cNvPr id="78" name="Text 53"/>
          <p:cNvSpPr/>
          <p:nvPr/>
        </p:nvSpPr>
        <p:spPr>
          <a:xfrm>
            <a:off x="541020" y="8162210"/>
            <a:ext cx="208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38" dirty="0"/>
          </a:p>
        </p:txBody>
      </p:sp>
      <p:sp>
        <p:nvSpPr>
          <p:cNvPr id="79" name="Text 54"/>
          <p:cNvSpPr/>
          <p:nvPr/>
        </p:nvSpPr>
        <p:spPr>
          <a:xfrm>
            <a:off x="711518" y="8162210"/>
            <a:ext cx="21502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m²</a:t>
            </a:r>
            <a:endParaRPr lang="en-US" sz="938" dirty="0"/>
          </a:p>
        </p:txBody>
      </p:sp>
      <p:pic>
        <p:nvPicPr>
          <p:cNvPr id="80" name="Image 23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83694" y="8164115"/>
            <a:ext cx="133350" cy="133350"/>
          </a:xfrm>
          <a:prstGeom prst="rect">
            <a:avLst/>
          </a:prstGeom>
        </p:spPr>
      </p:pic>
      <p:sp>
        <p:nvSpPr>
          <p:cNvPr id="81" name="Text 55"/>
          <p:cNvSpPr/>
          <p:nvPr/>
        </p:nvSpPr>
        <p:spPr>
          <a:xfrm>
            <a:off x="1155144" y="8162210"/>
            <a:ext cx="34754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</a:t>
            </a:r>
            <a:endParaRPr lang="en-US" sz="938" dirty="0"/>
          </a:p>
        </p:txBody>
      </p:sp>
      <p:sp>
        <p:nvSpPr>
          <p:cNvPr id="82" name="Text 56"/>
          <p:cNvSpPr/>
          <p:nvPr/>
        </p:nvSpPr>
        <p:spPr>
          <a:xfrm>
            <a:off x="1464588" y="8162210"/>
            <a:ext cx="14239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38" dirty="0"/>
          </a:p>
        </p:txBody>
      </p:sp>
      <p:pic>
        <p:nvPicPr>
          <p:cNvPr id="83" name="Image 24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664137" y="8164115"/>
            <a:ext cx="133350" cy="133350"/>
          </a:xfrm>
          <a:prstGeom prst="rect">
            <a:avLst/>
          </a:prstGeom>
        </p:spPr>
      </p:pic>
      <p:sp>
        <p:nvSpPr>
          <p:cNvPr id="84" name="Text 57"/>
          <p:cNvSpPr/>
          <p:nvPr/>
        </p:nvSpPr>
        <p:spPr>
          <a:xfrm>
            <a:off x="1835587" y="8162210"/>
            <a:ext cx="57233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riêng</a:t>
            </a:r>
            <a:endParaRPr lang="en-US" sz="938" dirty="0"/>
          </a:p>
        </p:txBody>
      </p:sp>
      <p:sp>
        <p:nvSpPr>
          <p:cNvPr id="85" name="Shape 58"/>
          <p:cNvSpPr/>
          <p:nvPr/>
        </p:nvSpPr>
        <p:spPr>
          <a:xfrm>
            <a:off x="3003233" y="5317569"/>
            <a:ext cx="2603183" cy="3122771"/>
          </a:xfrm>
          <a:prstGeom prst="roundRect">
            <a:avLst>
              <a:gd name="adj" fmla="val 6586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86" name="Image 25" descr="preencoded.png">    </p:cNvPr>
          <p:cNvPicPr>
            <a:picLocks noChangeAspect="1"/>
          </p:cNvPicPr>
          <p:nvPr/>
        </p:nvPicPr>
        <p:blipFill>
          <a:blip r:embed="rId49"/>
          <a:srcRect l="0" r="0" t="7976" b="7976"/>
          <a:stretch/>
        </p:blipFill>
        <p:spPr>
          <a:xfrm>
            <a:off x="3010853" y="5325189"/>
            <a:ext cx="2587943" cy="1619250"/>
          </a:xfrm>
          <a:prstGeom prst="rect">
            <a:avLst/>
          </a:prstGeom>
        </p:spPr>
      </p:pic>
      <p:sp>
        <p:nvSpPr>
          <p:cNvPr id="87" name="Shape 59"/>
          <p:cNvSpPr/>
          <p:nvPr/>
        </p:nvSpPr>
        <p:spPr>
          <a:xfrm>
            <a:off x="3125153" y="5439489"/>
            <a:ext cx="841891" cy="217170"/>
          </a:xfrm>
          <a:prstGeom prst="roundRect">
            <a:avLst>
              <a:gd name="adj" fmla="val 35088"/>
            </a:avLst>
          </a:prstGeom>
          <a:solidFill>
            <a:srgbClr val="F97316"/>
          </a:solidFill>
          <a:ln/>
        </p:spPr>
      </p:sp>
      <p:pic>
        <p:nvPicPr>
          <p:cNvPr id="88" name="Image 26" descr="preencoded.png">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3220403" y="5490924"/>
            <a:ext cx="114300" cy="114300"/>
          </a:xfrm>
          <a:prstGeom prst="rect">
            <a:avLst/>
          </a:prstGeom>
        </p:spPr>
      </p:pic>
      <p:sp>
        <p:nvSpPr>
          <p:cNvPr id="89" name="Text 60"/>
          <p:cNvSpPr/>
          <p:nvPr/>
        </p:nvSpPr>
        <p:spPr>
          <a:xfrm>
            <a:off x="3372803" y="5487114"/>
            <a:ext cx="5751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GIÁ</a:t>
            </a:r>
            <a:endParaRPr lang="en-US" sz="863" dirty="0"/>
          </a:p>
        </p:txBody>
      </p:sp>
      <p:sp>
        <p:nvSpPr>
          <p:cNvPr id="90" name="Shape 61"/>
          <p:cNvSpPr/>
          <p:nvPr/>
        </p:nvSpPr>
        <p:spPr>
          <a:xfrm>
            <a:off x="5179695" y="5439489"/>
            <a:ext cx="304800" cy="30480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91" name="Image 27" descr="preencoded.png">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5255895" y="5515689"/>
            <a:ext cx="152400" cy="152400"/>
          </a:xfrm>
          <a:prstGeom prst="rect">
            <a:avLst/>
          </a:prstGeom>
        </p:spPr>
      </p:pic>
      <p:pic>
        <p:nvPicPr>
          <p:cNvPr id="92" name="Image 28" descr="preencoded.png">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3144203" y="7084456"/>
            <a:ext cx="123825" cy="123825"/>
          </a:xfrm>
          <a:prstGeom prst="rect">
            <a:avLst/>
          </a:prstGeom>
        </p:spPr>
      </p:pic>
      <p:sp>
        <p:nvSpPr>
          <p:cNvPr id="93" name="Text 62"/>
          <p:cNvSpPr/>
          <p:nvPr/>
        </p:nvSpPr>
        <p:spPr>
          <a:xfrm>
            <a:off x="3296603" y="7077789"/>
            <a:ext cx="24169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938" dirty="0"/>
          </a:p>
        </p:txBody>
      </p:sp>
      <p:sp>
        <p:nvSpPr>
          <p:cNvPr id="94" name="Text 63"/>
          <p:cNvSpPr/>
          <p:nvPr/>
        </p:nvSpPr>
        <p:spPr>
          <a:xfrm>
            <a:off x="3144203" y="7295912"/>
            <a:ext cx="2553367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6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Căn hộ mini full nội thất</a:t>
            </a:r>
            <a:endParaRPr lang="en-US" sz="1163" dirty="0"/>
          </a:p>
        </p:txBody>
      </p:sp>
      <p:pic>
        <p:nvPicPr>
          <p:cNvPr id="95" name="Image 29" descr="preencoded.png">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144203" y="7540228"/>
            <a:ext cx="123825" cy="123825"/>
          </a:xfrm>
          <a:prstGeom prst="rect">
            <a:avLst/>
          </a:prstGeom>
        </p:spPr>
      </p:pic>
      <p:sp>
        <p:nvSpPr>
          <p:cNvPr id="96" name="Text 64"/>
          <p:cNvSpPr/>
          <p:nvPr/>
        </p:nvSpPr>
        <p:spPr>
          <a:xfrm>
            <a:off x="3306128" y="7525940"/>
            <a:ext cx="17608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Bình Thạnh, TP. Hồ Chí Minh</a:t>
            </a:r>
            <a:endParaRPr lang="en-US" sz="938" dirty="0"/>
          </a:p>
        </p:txBody>
      </p:sp>
      <p:sp>
        <p:nvSpPr>
          <p:cNvPr id="97" name="Text 65"/>
          <p:cNvSpPr/>
          <p:nvPr/>
        </p:nvSpPr>
        <p:spPr>
          <a:xfrm>
            <a:off x="3144203" y="7773590"/>
            <a:ext cx="25533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trike="sngStrike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5.800.000đ </a:t>
            </a:r>
            <a:pPr algn="l" indent="0" marL="0">
              <a:buNone/>
            </a:pPr>
            <a:r>
              <a:rPr lang="en-US" sz="1275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5.200.000đ </a:t>
            </a:r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/tháng</a:t>
            </a:r>
            <a:endParaRPr lang="en-US" sz="1000" dirty="0"/>
          </a:p>
        </p:txBody>
      </p:sp>
      <p:sp>
        <p:nvSpPr>
          <p:cNvPr id="98" name="Shape 66"/>
          <p:cNvSpPr/>
          <p:nvPr/>
        </p:nvSpPr>
        <p:spPr>
          <a:xfrm>
            <a:off x="3144203" y="8059340"/>
            <a:ext cx="2321242" cy="9525"/>
          </a:xfrm>
          <a:prstGeom prst="rect">
            <a:avLst/>
          </a:prstGeom>
          <a:solidFill>
            <a:srgbClr val="E5E8D9"/>
          </a:solidFill>
          <a:ln/>
        </p:spPr>
      </p:sp>
      <p:pic>
        <p:nvPicPr>
          <p:cNvPr id="99" name="Image 30" descr="preencoded.png">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3144203" y="8164115"/>
            <a:ext cx="133350" cy="133350"/>
          </a:xfrm>
          <a:prstGeom prst="rect">
            <a:avLst/>
          </a:prstGeom>
        </p:spPr>
      </p:pic>
      <p:sp>
        <p:nvSpPr>
          <p:cNvPr id="100" name="Text 67"/>
          <p:cNvSpPr/>
          <p:nvPr/>
        </p:nvSpPr>
        <p:spPr>
          <a:xfrm>
            <a:off x="3315653" y="8162210"/>
            <a:ext cx="208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38" dirty="0"/>
          </a:p>
        </p:txBody>
      </p:sp>
      <p:sp>
        <p:nvSpPr>
          <p:cNvPr id="101" name="Text 68"/>
          <p:cNvSpPr/>
          <p:nvPr/>
        </p:nvSpPr>
        <p:spPr>
          <a:xfrm>
            <a:off x="3486150" y="8162210"/>
            <a:ext cx="21502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m²</a:t>
            </a:r>
            <a:endParaRPr lang="en-US" sz="938" dirty="0"/>
          </a:p>
        </p:txBody>
      </p:sp>
      <p:pic>
        <p:nvPicPr>
          <p:cNvPr id="102" name="Image 31" descr="preencoded.png">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3758327" y="8164115"/>
            <a:ext cx="133350" cy="133350"/>
          </a:xfrm>
          <a:prstGeom prst="rect">
            <a:avLst/>
          </a:prstGeom>
        </p:spPr>
      </p:pic>
      <p:sp>
        <p:nvSpPr>
          <p:cNvPr id="103" name="Text 69"/>
          <p:cNvSpPr/>
          <p:nvPr/>
        </p:nvSpPr>
        <p:spPr>
          <a:xfrm>
            <a:off x="3929777" y="8162210"/>
            <a:ext cx="34754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</a:t>
            </a:r>
            <a:endParaRPr lang="en-US" sz="938" dirty="0"/>
          </a:p>
        </p:txBody>
      </p:sp>
      <p:sp>
        <p:nvSpPr>
          <p:cNvPr id="104" name="Text 70"/>
          <p:cNvSpPr/>
          <p:nvPr/>
        </p:nvSpPr>
        <p:spPr>
          <a:xfrm>
            <a:off x="4239220" y="8162210"/>
            <a:ext cx="14239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38" dirty="0"/>
          </a:p>
        </p:txBody>
      </p:sp>
      <p:pic>
        <p:nvPicPr>
          <p:cNvPr id="105" name="Image 32" descr="preencoded.png">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4438769" y="8164115"/>
            <a:ext cx="133350" cy="133350"/>
          </a:xfrm>
          <a:prstGeom prst="rect">
            <a:avLst/>
          </a:prstGeom>
        </p:spPr>
      </p:pic>
      <p:sp>
        <p:nvSpPr>
          <p:cNvPr id="106" name="Text 71"/>
          <p:cNvSpPr/>
          <p:nvPr/>
        </p:nvSpPr>
        <p:spPr>
          <a:xfrm>
            <a:off x="4610219" y="8162210"/>
            <a:ext cx="57233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riêng</a:t>
            </a:r>
            <a:endParaRPr lang="en-US" sz="938" dirty="0"/>
          </a:p>
        </p:txBody>
      </p:sp>
      <p:sp>
        <p:nvSpPr>
          <p:cNvPr id="107" name="Shape 72"/>
          <p:cNvSpPr/>
          <p:nvPr/>
        </p:nvSpPr>
        <p:spPr>
          <a:xfrm>
            <a:off x="5777865" y="5317569"/>
            <a:ext cx="2603183" cy="3122771"/>
          </a:xfrm>
          <a:prstGeom prst="roundRect">
            <a:avLst>
              <a:gd name="adj" fmla="val 6586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108" name="Image 33" descr="preencoded.png">    </p:cNvPr>
          <p:cNvPicPr>
            <a:picLocks noChangeAspect="1"/>
          </p:cNvPicPr>
          <p:nvPr/>
        </p:nvPicPr>
        <p:blipFill>
          <a:blip r:embed="rId64"/>
          <a:srcRect l="0" r="0" t="3073" b="3073"/>
          <a:stretch/>
        </p:blipFill>
        <p:spPr>
          <a:xfrm>
            <a:off x="5785485" y="5325189"/>
            <a:ext cx="2587943" cy="1619250"/>
          </a:xfrm>
          <a:prstGeom prst="rect">
            <a:avLst/>
          </a:prstGeom>
        </p:spPr>
      </p:pic>
      <p:sp>
        <p:nvSpPr>
          <p:cNvPr id="109" name="Shape 73"/>
          <p:cNvSpPr/>
          <p:nvPr/>
        </p:nvSpPr>
        <p:spPr>
          <a:xfrm>
            <a:off x="7954328" y="5439489"/>
            <a:ext cx="304800" cy="30480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110" name="Image 34" descr="preencoded.png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8030528" y="5515689"/>
            <a:ext cx="152400" cy="152400"/>
          </a:xfrm>
          <a:prstGeom prst="rect">
            <a:avLst/>
          </a:prstGeom>
        </p:spPr>
      </p:pic>
      <p:pic>
        <p:nvPicPr>
          <p:cNvPr id="111" name="Image 35" descr="preencoded.png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5918835" y="7084456"/>
            <a:ext cx="123825" cy="123825"/>
          </a:xfrm>
          <a:prstGeom prst="rect">
            <a:avLst/>
          </a:prstGeom>
        </p:spPr>
      </p:pic>
      <p:sp>
        <p:nvSpPr>
          <p:cNvPr id="112" name="Text 74"/>
          <p:cNvSpPr/>
          <p:nvPr/>
        </p:nvSpPr>
        <p:spPr>
          <a:xfrm>
            <a:off x="6071235" y="7077789"/>
            <a:ext cx="24169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938" dirty="0"/>
          </a:p>
        </p:txBody>
      </p:sp>
      <p:sp>
        <p:nvSpPr>
          <p:cNvPr id="113" name="Text 75"/>
          <p:cNvSpPr/>
          <p:nvPr/>
        </p:nvSpPr>
        <p:spPr>
          <a:xfrm>
            <a:off x="5918835" y="7295912"/>
            <a:ext cx="2553367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6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Phòng trọ gần ĐH Tôn Đức Thắng</a:t>
            </a:r>
            <a:endParaRPr lang="en-US" sz="1163" dirty="0"/>
          </a:p>
        </p:txBody>
      </p:sp>
      <p:pic>
        <p:nvPicPr>
          <p:cNvPr id="114" name="Image 36" descr="preencoded.png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5918835" y="7540228"/>
            <a:ext cx="123825" cy="123825"/>
          </a:xfrm>
          <a:prstGeom prst="rect">
            <a:avLst/>
          </a:prstGeom>
        </p:spPr>
      </p:pic>
      <p:sp>
        <p:nvSpPr>
          <p:cNvPr id="115" name="Text 76"/>
          <p:cNvSpPr/>
          <p:nvPr/>
        </p:nvSpPr>
        <p:spPr>
          <a:xfrm>
            <a:off x="6080760" y="7525940"/>
            <a:ext cx="15069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Quận 7, TP. Hồ Chí Minh</a:t>
            </a:r>
            <a:endParaRPr lang="en-US" sz="938" dirty="0"/>
          </a:p>
        </p:txBody>
      </p:sp>
      <p:sp>
        <p:nvSpPr>
          <p:cNvPr id="116" name="Text 77"/>
          <p:cNvSpPr/>
          <p:nvPr/>
        </p:nvSpPr>
        <p:spPr>
          <a:xfrm>
            <a:off x="5918835" y="7773590"/>
            <a:ext cx="25533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3.800.000đ </a:t>
            </a:r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/tháng</a:t>
            </a:r>
            <a:endParaRPr lang="en-US" sz="1000" dirty="0"/>
          </a:p>
        </p:txBody>
      </p:sp>
      <p:sp>
        <p:nvSpPr>
          <p:cNvPr id="117" name="Shape 78"/>
          <p:cNvSpPr/>
          <p:nvPr/>
        </p:nvSpPr>
        <p:spPr>
          <a:xfrm>
            <a:off x="5918835" y="8059340"/>
            <a:ext cx="2321242" cy="9525"/>
          </a:xfrm>
          <a:prstGeom prst="rect">
            <a:avLst/>
          </a:prstGeom>
          <a:solidFill>
            <a:srgbClr val="E5E8D9"/>
          </a:solidFill>
          <a:ln/>
        </p:spPr>
      </p:sp>
      <p:pic>
        <p:nvPicPr>
          <p:cNvPr id="118" name="Image 37" descr="preencoded.png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918835" y="8164115"/>
            <a:ext cx="133350" cy="133350"/>
          </a:xfrm>
          <a:prstGeom prst="rect">
            <a:avLst/>
          </a:prstGeom>
        </p:spPr>
      </p:pic>
      <p:sp>
        <p:nvSpPr>
          <p:cNvPr id="119" name="Text 79"/>
          <p:cNvSpPr/>
          <p:nvPr/>
        </p:nvSpPr>
        <p:spPr>
          <a:xfrm>
            <a:off x="6090285" y="8162210"/>
            <a:ext cx="208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38" dirty="0"/>
          </a:p>
        </p:txBody>
      </p:sp>
      <p:sp>
        <p:nvSpPr>
          <p:cNvPr id="120" name="Text 80"/>
          <p:cNvSpPr/>
          <p:nvPr/>
        </p:nvSpPr>
        <p:spPr>
          <a:xfrm>
            <a:off x="6260782" y="8162210"/>
            <a:ext cx="21502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m²</a:t>
            </a:r>
            <a:endParaRPr lang="en-US" sz="938" dirty="0"/>
          </a:p>
        </p:txBody>
      </p:sp>
      <p:pic>
        <p:nvPicPr>
          <p:cNvPr id="121" name="Image 38" descr="preencoded.png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532959" y="8164115"/>
            <a:ext cx="133350" cy="133350"/>
          </a:xfrm>
          <a:prstGeom prst="rect">
            <a:avLst/>
          </a:prstGeom>
        </p:spPr>
      </p:pic>
      <p:sp>
        <p:nvSpPr>
          <p:cNvPr id="122" name="Text 81"/>
          <p:cNvSpPr/>
          <p:nvPr/>
        </p:nvSpPr>
        <p:spPr>
          <a:xfrm>
            <a:off x="6704409" y="8162210"/>
            <a:ext cx="34754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</a:t>
            </a:r>
            <a:endParaRPr lang="en-US" sz="938" dirty="0"/>
          </a:p>
        </p:txBody>
      </p:sp>
      <p:sp>
        <p:nvSpPr>
          <p:cNvPr id="123" name="Text 82"/>
          <p:cNvSpPr/>
          <p:nvPr/>
        </p:nvSpPr>
        <p:spPr>
          <a:xfrm>
            <a:off x="7013853" y="8162210"/>
            <a:ext cx="14239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38" dirty="0"/>
          </a:p>
        </p:txBody>
      </p:sp>
      <p:pic>
        <p:nvPicPr>
          <p:cNvPr id="124" name="Image 39" descr="preencoded.png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7213402" y="8164115"/>
            <a:ext cx="133350" cy="133350"/>
          </a:xfrm>
          <a:prstGeom prst="rect">
            <a:avLst/>
          </a:prstGeom>
        </p:spPr>
      </p:pic>
      <p:sp>
        <p:nvSpPr>
          <p:cNvPr id="125" name="Text 83"/>
          <p:cNvSpPr/>
          <p:nvPr/>
        </p:nvSpPr>
        <p:spPr>
          <a:xfrm>
            <a:off x="7384852" y="8162210"/>
            <a:ext cx="57233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riêng</a:t>
            </a:r>
            <a:endParaRPr lang="en-US" sz="938" dirty="0"/>
          </a:p>
        </p:txBody>
      </p:sp>
      <p:sp>
        <p:nvSpPr>
          <p:cNvPr id="126" name="Shape 84"/>
          <p:cNvSpPr/>
          <p:nvPr/>
        </p:nvSpPr>
        <p:spPr>
          <a:xfrm>
            <a:off x="8552498" y="5317569"/>
            <a:ext cx="2603183" cy="3122771"/>
          </a:xfrm>
          <a:prstGeom prst="roundRect">
            <a:avLst>
              <a:gd name="adj" fmla="val 6586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127" name="Image 40" descr="preencoded.png">    </p:cNvPr>
          <p:cNvPicPr>
            <a:picLocks noChangeAspect="1"/>
          </p:cNvPicPr>
          <p:nvPr/>
        </p:nvPicPr>
        <p:blipFill>
          <a:blip r:embed="rId77"/>
          <a:srcRect l="0" r="0" t="3073" b="3073"/>
          <a:stretch/>
        </p:blipFill>
        <p:spPr>
          <a:xfrm>
            <a:off x="8560118" y="5325189"/>
            <a:ext cx="2587943" cy="1619250"/>
          </a:xfrm>
          <a:prstGeom prst="rect">
            <a:avLst/>
          </a:prstGeom>
        </p:spPr>
      </p:pic>
      <p:sp>
        <p:nvSpPr>
          <p:cNvPr id="128" name="Shape 85"/>
          <p:cNvSpPr/>
          <p:nvPr/>
        </p:nvSpPr>
        <p:spPr>
          <a:xfrm>
            <a:off x="10728960" y="5439489"/>
            <a:ext cx="304800" cy="30480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129" name="Image 41" descr="preencoded.png">    </p:cNvPr>
          <p:cNvPicPr>
            <a:picLocks noChangeAspect="1"/>
          </p:cNvPicPr>
          <p:nvPr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10805160" y="5515689"/>
            <a:ext cx="152400" cy="152400"/>
          </a:xfrm>
          <a:prstGeom prst="rect">
            <a:avLst/>
          </a:prstGeom>
        </p:spPr>
      </p:pic>
      <p:pic>
        <p:nvPicPr>
          <p:cNvPr id="130" name="Image 42" descr="preencoded.png">    </p:cNvPr>
          <p:cNvPicPr>
            <a:picLocks noChangeAspect="1"/>
          </p:cNvPicPr>
          <p:nvPr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8693468" y="7084456"/>
            <a:ext cx="123825" cy="123825"/>
          </a:xfrm>
          <a:prstGeom prst="rect">
            <a:avLst/>
          </a:prstGeom>
        </p:spPr>
      </p:pic>
      <p:sp>
        <p:nvSpPr>
          <p:cNvPr id="131" name="Text 86"/>
          <p:cNvSpPr/>
          <p:nvPr/>
        </p:nvSpPr>
        <p:spPr>
          <a:xfrm>
            <a:off x="8845868" y="7077789"/>
            <a:ext cx="24169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938" dirty="0"/>
          </a:p>
        </p:txBody>
      </p:sp>
      <p:sp>
        <p:nvSpPr>
          <p:cNvPr id="132" name="Text 87"/>
          <p:cNvSpPr/>
          <p:nvPr/>
        </p:nvSpPr>
        <p:spPr>
          <a:xfrm>
            <a:off x="8693468" y="7295912"/>
            <a:ext cx="2553367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6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Phòng rộng, cửa sổ lớn</a:t>
            </a:r>
            <a:endParaRPr lang="en-US" sz="1163" dirty="0"/>
          </a:p>
        </p:txBody>
      </p:sp>
      <p:pic>
        <p:nvPicPr>
          <p:cNvPr id="133" name="Image 43" descr="preencoded.png">    </p:cNvPr>
          <p:cNvPicPr>
            <a:picLocks noChangeAspect="1"/>
          </p:cNvPicPr>
          <p:nvPr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8693468" y="7540228"/>
            <a:ext cx="123825" cy="123825"/>
          </a:xfrm>
          <a:prstGeom prst="rect">
            <a:avLst/>
          </a:prstGeom>
        </p:spPr>
      </p:pic>
      <p:sp>
        <p:nvSpPr>
          <p:cNvPr id="134" name="Text 88"/>
          <p:cNvSpPr/>
          <p:nvPr/>
        </p:nvSpPr>
        <p:spPr>
          <a:xfrm>
            <a:off x="8855393" y="7525940"/>
            <a:ext cx="15865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Thủ Đức, TP. Hồ Chí Minh</a:t>
            </a:r>
            <a:endParaRPr lang="en-US" sz="938" dirty="0"/>
          </a:p>
        </p:txBody>
      </p:sp>
      <p:sp>
        <p:nvSpPr>
          <p:cNvPr id="135" name="Text 89"/>
          <p:cNvSpPr/>
          <p:nvPr/>
        </p:nvSpPr>
        <p:spPr>
          <a:xfrm>
            <a:off x="8693468" y="7773590"/>
            <a:ext cx="25533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4.000.000đ </a:t>
            </a:r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/tháng</a:t>
            </a:r>
            <a:endParaRPr lang="en-US" sz="1000" dirty="0"/>
          </a:p>
        </p:txBody>
      </p:sp>
      <p:sp>
        <p:nvSpPr>
          <p:cNvPr id="136" name="Shape 90"/>
          <p:cNvSpPr/>
          <p:nvPr/>
        </p:nvSpPr>
        <p:spPr>
          <a:xfrm>
            <a:off x="8693468" y="8059340"/>
            <a:ext cx="2321242" cy="9525"/>
          </a:xfrm>
          <a:prstGeom prst="rect">
            <a:avLst/>
          </a:prstGeom>
          <a:solidFill>
            <a:srgbClr val="E5E8D9"/>
          </a:solidFill>
          <a:ln/>
        </p:spPr>
      </p:sp>
      <p:pic>
        <p:nvPicPr>
          <p:cNvPr id="137" name="Image 44" descr="preencoded.png">    </p:cNvPr>
          <p:cNvPicPr>
            <a:picLocks noChangeAspect="1"/>
          </p:cNvPicPr>
          <p:nvPr/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8693468" y="8164115"/>
            <a:ext cx="133350" cy="133350"/>
          </a:xfrm>
          <a:prstGeom prst="rect">
            <a:avLst/>
          </a:prstGeom>
        </p:spPr>
      </p:pic>
      <p:sp>
        <p:nvSpPr>
          <p:cNvPr id="138" name="Text 91"/>
          <p:cNvSpPr/>
          <p:nvPr/>
        </p:nvSpPr>
        <p:spPr>
          <a:xfrm>
            <a:off x="8864918" y="8162210"/>
            <a:ext cx="208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38" dirty="0"/>
          </a:p>
        </p:txBody>
      </p:sp>
      <p:sp>
        <p:nvSpPr>
          <p:cNvPr id="139" name="Text 92"/>
          <p:cNvSpPr/>
          <p:nvPr/>
        </p:nvSpPr>
        <p:spPr>
          <a:xfrm>
            <a:off x="9035415" y="8162210"/>
            <a:ext cx="21502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m²</a:t>
            </a:r>
            <a:endParaRPr lang="en-US" sz="938" dirty="0"/>
          </a:p>
        </p:txBody>
      </p:sp>
      <p:pic>
        <p:nvPicPr>
          <p:cNvPr id="140" name="Image 45" descr="preencoded.png">    </p:cNvPr>
          <p:cNvPicPr>
            <a:picLocks noChangeAspect="1"/>
          </p:cNvPicPr>
          <p:nvPr/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9307592" y="8164115"/>
            <a:ext cx="133350" cy="133350"/>
          </a:xfrm>
          <a:prstGeom prst="rect">
            <a:avLst/>
          </a:prstGeom>
        </p:spPr>
      </p:pic>
      <p:sp>
        <p:nvSpPr>
          <p:cNvPr id="141" name="Text 93"/>
          <p:cNvSpPr/>
          <p:nvPr/>
        </p:nvSpPr>
        <p:spPr>
          <a:xfrm>
            <a:off x="9479042" y="8162210"/>
            <a:ext cx="34754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</a:t>
            </a:r>
            <a:endParaRPr lang="en-US" sz="938" dirty="0"/>
          </a:p>
        </p:txBody>
      </p:sp>
      <p:sp>
        <p:nvSpPr>
          <p:cNvPr id="142" name="Text 94"/>
          <p:cNvSpPr/>
          <p:nvPr/>
        </p:nvSpPr>
        <p:spPr>
          <a:xfrm>
            <a:off x="9788485" y="8162210"/>
            <a:ext cx="14239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38" dirty="0"/>
          </a:p>
        </p:txBody>
      </p:sp>
      <p:pic>
        <p:nvPicPr>
          <p:cNvPr id="143" name="Image 46" descr="preencoded.png">    </p:cNvPr>
          <p:cNvPicPr>
            <a:picLocks noChangeAspect="1"/>
          </p:cNvPicPr>
          <p:nvPr/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9988035" y="8164115"/>
            <a:ext cx="133350" cy="133350"/>
          </a:xfrm>
          <a:prstGeom prst="rect">
            <a:avLst/>
          </a:prstGeom>
        </p:spPr>
      </p:pic>
      <p:sp>
        <p:nvSpPr>
          <p:cNvPr id="144" name="Text 95"/>
          <p:cNvSpPr/>
          <p:nvPr/>
        </p:nvSpPr>
        <p:spPr>
          <a:xfrm>
            <a:off x="10159485" y="8162210"/>
            <a:ext cx="57233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riêng</a:t>
            </a:r>
            <a:endParaRPr lang="en-US" sz="938" dirty="0"/>
          </a:p>
        </p:txBody>
      </p:sp>
      <p:sp>
        <p:nvSpPr>
          <p:cNvPr id="145" name="Shape 96"/>
          <p:cNvSpPr/>
          <p:nvPr/>
        </p:nvSpPr>
        <p:spPr>
          <a:xfrm>
            <a:off x="0" y="8916590"/>
            <a:ext cx="11384281" cy="7505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6" name="Shape 97"/>
          <p:cNvSpPr/>
          <p:nvPr/>
        </p:nvSpPr>
        <p:spPr>
          <a:xfrm>
            <a:off x="0" y="8916590"/>
            <a:ext cx="11384281" cy="9525"/>
          </a:xfrm>
          <a:prstGeom prst="rect">
            <a:avLst/>
          </a:prstGeom>
          <a:solidFill>
            <a:srgbClr val="E5E8D9"/>
          </a:solidFill>
          <a:ln/>
        </p:spPr>
      </p:sp>
      <p:sp>
        <p:nvSpPr>
          <p:cNvPr id="147" name="Shape 98"/>
          <p:cNvSpPr/>
          <p:nvPr/>
        </p:nvSpPr>
        <p:spPr>
          <a:xfrm>
            <a:off x="228600" y="917186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3F4A1F"/>
          </a:solidFill>
          <a:ln/>
        </p:spPr>
      </p:sp>
      <p:pic>
        <p:nvPicPr>
          <p:cNvPr id="148" name="Image 47" descr="preencoded.png">    </p:cNvPr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290513" y="9233773"/>
            <a:ext cx="123825" cy="123825"/>
          </a:xfrm>
          <a:prstGeom prst="rect">
            <a:avLst/>
          </a:prstGeom>
        </p:spPr>
      </p:pic>
      <p:sp>
        <p:nvSpPr>
          <p:cNvPr id="149" name="Text 99"/>
          <p:cNvSpPr/>
          <p:nvPr/>
        </p:nvSpPr>
        <p:spPr>
          <a:xfrm>
            <a:off x="552450" y="9219485"/>
            <a:ext cx="99988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Roomsy © 2026</a:t>
            </a:r>
            <a:endParaRPr lang="en-US" sz="1013" dirty="0"/>
          </a:p>
        </p:txBody>
      </p:sp>
      <p:sp>
        <p:nvSpPr>
          <p:cNvPr id="150" name="Text 100"/>
          <p:cNvSpPr/>
          <p:nvPr/>
        </p:nvSpPr>
        <p:spPr>
          <a:xfrm>
            <a:off x="8715256" y="9219485"/>
            <a:ext cx="268446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phòng dễ dàng · Sống trọn bạn thích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384281" cy="685800"/>
          </a:xfrm>
          <a:prstGeom prst="rect">
            <a:avLst/>
          </a:prstGeom>
          <a:solidFill>
            <a:srgbClr val="3F4A1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714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563" y="252413"/>
            <a:ext cx="180975" cy="1809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8650" y="232410"/>
            <a:ext cx="75771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836902" y="255270"/>
            <a:ext cx="749498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</a:t>
            </a:r>
            <a:endParaRPr lang="en-US" sz="1088" dirty="0"/>
          </a:p>
        </p:txBody>
      </p:sp>
      <p:sp>
        <p:nvSpPr>
          <p:cNvPr id="7" name="Text 4"/>
          <p:cNvSpPr/>
          <p:nvPr/>
        </p:nvSpPr>
        <p:spPr>
          <a:xfrm>
            <a:off x="3776901" y="255270"/>
            <a:ext cx="793433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phòng</a:t>
            </a:r>
            <a:endParaRPr lang="en-US" sz="1088" dirty="0"/>
          </a:p>
        </p:txBody>
      </p:sp>
      <p:sp>
        <p:nvSpPr>
          <p:cNvPr id="8" name="Text 5"/>
          <p:cNvSpPr/>
          <p:nvPr/>
        </p:nvSpPr>
        <p:spPr>
          <a:xfrm>
            <a:off x="4760833" y="255270"/>
            <a:ext cx="567928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ghép</a:t>
            </a:r>
            <a:endParaRPr lang="en-US" sz="1088" dirty="0"/>
          </a:p>
        </p:txBody>
      </p:sp>
      <p:sp>
        <p:nvSpPr>
          <p:cNvPr id="9" name="Text 6"/>
          <p:cNvSpPr/>
          <p:nvPr/>
        </p:nvSpPr>
        <p:spPr>
          <a:xfrm>
            <a:off x="5519261" y="255270"/>
            <a:ext cx="827127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Cộng đồng</a:t>
            </a:r>
            <a:endParaRPr lang="en-US" sz="1088" dirty="0"/>
          </a:p>
        </p:txBody>
      </p:sp>
      <p:sp>
        <p:nvSpPr>
          <p:cNvPr id="10" name="Shape 7"/>
          <p:cNvSpPr/>
          <p:nvPr/>
        </p:nvSpPr>
        <p:spPr>
          <a:xfrm>
            <a:off x="7835027" y="177165"/>
            <a:ext cx="1531144" cy="331470"/>
          </a:xfrm>
          <a:prstGeom prst="roundRect">
            <a:avLst>
              <a:gd name="adj" fmla="val 28736"/>
            </a:avLst>
          </a:prstGeom>
          <a:solidFill>
            <a:srgbClr val="F5A52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7902" y="271463"/>
            <a:ext cx="142875" cy="1428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77927" y="262890"/>
            <a:ext cx="11215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tin cho thuê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9499521" y="262890"/>
            <a:ext cx="72878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0361652" y="177165"/>
            <a:ext cx="794028" cy="331470"/>
          </a:xfrm>
          <a:prstGeom prst="roundRect">
            <a:avLst>
              <a:gd name="adj" fmla="val 28736"/>
            </a:avLst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>
            <a:off x="10475952" y="262890"/>
            <a:ext cx="56542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729990" y="3308985"/>
            <a:ext cx="3924300" cy="4034790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  <a:effectLst>
            <a:outerShdw sx="100000" sy="100000" kx="0" ky="0" algn="bl" rotWithShape="0" blurRad="476250" dist="171450" dir="5400000">
              <a:srgbClr val="107245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2590" y="360235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3F4A1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7365" y="3707130"/>
            <a:ext cx="209550" cy="2095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73465" y="4135755"/>
            <a:ext cx="20373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 Roomsy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4320510" y="4436745"/>
            <a:ext cx="274314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phòng dễ dàng, sống trọn bạn thích</a:t>
            </a:r>
            <a:endParaRPr lang="en-US" sz="1013" dirty="0"/>
          </a:p>
        </p:txBody>
      </p:sp>
      <p:sp>
        <p:nvSpPr>
          <p:cNvPr id="21" name="Text 16"/>
          <p:cNvSpPr/>
          <p:nvPr/>
        </p:nvSpPr>
        <p:spPr>
          <a:xfrm>
            <a:off x="4023360" y="4806315"/>
            <a:ext cx="367131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975" dirty="0"/>
          </a:p>
        </p:txBody>
      </p:sp>
      <p:sp>
        <p:nvSpPr>
          <p:cNvPr id="22" name="Shape 17"/>
          <p:cNvSpPr/>
          <p:nvPr/>
        </p:nvSpPr>
        <p:spPr>
          <a:xfrm>
            <a:off x="4023360" y="5008245"/>
            <a:ext cx="3337560" cy="422910"/>
          </a:xfrm>
          <a:prstGeom prst="roundRect">
            <a:avLst>
              <a:gd name="adj" fmla="val 24775"/>
            </a:avLst>
          </a:prstGeom>
          <a:ln w="7620">
            <a:solidFill>
              <a:srgbClr val="E5E8D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54805" y="5143500"/>
            <a:ext cx="141446" cy="152400"/>
          </a:xfrm>
          <a:prstGeom prst="rect">
            <a:avLst/>
          </a:prstGeom>
        </p:spPr>
      </p:pic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2451" y="5130165"/>
            <a:ext cx="2857024" cy="17907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023360" y="5564505"/>
            <a:ext cx="585549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Mật khẩu</a:t>
            </a:r>
            <a:endParaRPr lang="en-US" sz="975" dirty="0"/>
          </a:p>
        </p:txBody>
      </p:sp>
      <p:sp>
        <p:nvSpPr>
          <p:cNvPr id="26" name="Text 19"/>
          <p:cNvSpPr/>
          <p:nvPr/>
        </p:nvSpPr>
        <p:spPr>
          <a:xfrm>
            <a:off x="6480810" y="5568315"/>
            <a:ext cx="95631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Quên mật khẩu?</a:t>
            </a:r>
            <a:endParaRPr lang="en-US" sz="938" dirty="0"/>
          </a:p>
        </p:txBody>
      </p:sp>
      <p:sp>
        <p:nvSpPr>
          <p:cNvPr id="27" name="Shape 20"/>
          <p:cNvSpPr/>
          <p:nvPr/>
        </p:nvSpPr>
        <p:spPr>
          <a:xfrm>
            <a:off x="4023360" y="5766435"/>
            <a:ext cx="3337560" cy="434340"/>
          </a:xfrm>
          <a:prstGeom prst="roundRect">
            <a:avLst>
              <a:gd name="adj" fmla="val 24123"/>
            </a:avLst>
          </a:prstGeom>
          <a:ln w="7620">
            <a:solidFill>
              <a:srgbClr val="E5E8D9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54805" y="5907405"/>
            <a:ext cx="130492" cy="152400"/>
          </a:xfrm>
          <a:prstGeom prst="rect">
            <a:avLst/>
          </a:prstGeom>
        </p:spPr>
      </p:pic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61497" y="5894070"/>
            <a:ext cx="2639378" cy="179070"/>
          </a:xfrm>
          <a:prstGeom prst="rect">
            <a:avLst/>
          </a:prstGeom>
        </p:spPr>
      </p:pic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77075" y="5888355"/>
            <a:ext cx="152400" cy="152400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4023360" y="6334125"/>
            <a:ext cx="3337560" cy="415290"/>
          </a:xfrm>
          <a:prstGeom prst="roundRect">
            <a:avLst>
              <a:gd name="adj" fmla="val 27523"/>
            </a:avLst>
          </a:prstGeom>
          <a:solidFill>
            <a:srgbClr val="3F4A1F"/>
          </a:solidFill>
          <a:ln/>
        </p:spPr>
      </p:sp>
      <p:sp>
        <p:nvSpPr>
          <p:cNvPr id="32" name="Text 22"/>
          <p:cNvSpPr/>
          <p:nvPr/>
        </p:nvSpPr>
        <p:spPr>
          <a:xfrm>
            <a:off x="4097122" y="6457950"/>
            <a:ext cx="3190037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</a:t>
            </a:r>
            <a:endParaRPr lang="en-US" sz="1125" dirty="0"/>
          </a:p>
        </p:txBody>
      </p:sp>
      <p:sp>
        <p:nvSpPr>
          <p:cNvPr id="33" name="Text 23"/>
          <p:cNvSpPr/>
          <p:nvPr/>
        </p:nvSpPr>
        <p:spPr>
          <a:xfrm>
            <a:off x="3856482" y="6882765"/>
            <a:ext cx="367131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tài khoản? </a:t>
            </a:r>
            <a:pPr algn="ctr" indent="0" marL="0">
              <a:buNone/>
            </a:pPr>
            <a:r>
              <a:rPr lang="en-US" sz="1013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ngay</a:t>
            </a:r>
            <a:endParaRPr lang="en-US" sz="101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384281" cy="685800"/>
          </a:xfrm>
          <a:prstGeom prst="rect">
            <a:avLst/>
          </a:prstGeom>
          <a:solidFill>
            <a:srgbClr val="3F4A1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714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563" y="252413"/>
            <a:ext cx="180975" cy="1809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8650" y="232410"/>
            <a:ext cx="75771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865477" y="255270"/>
            <a:ext cx="749498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</a:t>
            </a:r>
            <a:endParaRPr lang="en-US" sz="1088" dirty="0"/>
          </a:p>
        </p:txBody>
      </p:sp>
      <p:sp>
        <p:nvSpPr>
          <p:cNvPr id="7" name="Text 4"/>
          <p:cNvSpPr/>
          <p:nvPr/>
        </p:nvSpPr>
        <p:spPr>
          <a:xfrm>
            <a:off x="3805476" y="255270"/>
            <a:ext cx="736283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phòng</a:t>
            </a:r>
            <a:endParaRPr lang="en-US" sz="1088" dirty="0"/>
          </a:p>
        </p:txBody>
      </p:sp>
      <p:sp>
        <p:nvSpPr>
          <p:cNvPr id="8" name="Text 5"/>
          <p:cNvSpPr/>
          <p:nvPr/>
        </p:nvSpPr>
        <p:spPr>
          <a:xfrm>
            <a:off x="4732258" y="255270"/>
            <a:ext cx="567928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ghép</a:t>
            </a:r>
            <a:endParaRPr lang="en-US" sz="1088" dirty="0"/>
          </a:p>
        </p:txBody>
      </p:sp>
      <p:sp>
        <p:nvSpPr>
          <p:cNvPr id="9" name="Text 6"/>
          <p:cNvSpPr/>
          <p:nvPr/>
        </p:nvSpPr>
        <p:spPr>
          <a:xfrm>
            <a:off x="5490686" y="255270"/>
            <a:ext cx="827127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Cộng đồng</a:t>
            </a:r>
            <a:endParaRPr lang="en-US" sz="1088" dirty="0"/>
          </a:p>
        </p:txBody>
      </p:sp>
      <p:sp>
        <p:nvSpPr>
          <p:cNvPr id="10" name="Shape 7"/>
          <p:cNvSpPr/>
          <p:nvPr/>
        </p:nvSpPr>
        <p:spPr>
          <a:xfrm>
            <a:off x="7835027" y="177165"/>
            <a:ext cx="1531144" cy="331470"/>
          </a:xfrm>
          <a:prstGeom prst="roundRect">
            <a:avLst>
              <a:gd name="adj" fmla="val 28736"/>
            </a:avLst>
          </a:prstGeom>
          <a:solidFill>
            <a:srgbClr val="F5A52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7902" y="271463"/>
            <a:ext cx="142875" cy="1428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77927" y="262890"/>
            <a:ext cx="11215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tin cho thuê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9499521" y="262890"/>
            <a:ext cx="72878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0361652" y="177165"/>
            <a:ext cx="794028" cy="331470"/>
          </a:xfrm>
          <a:prstGeom prst="roundRect">
            <a:avLst>
              <a:gd name="adj" fmla="val 28736"/>
            </a:avLst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>
            <a:off x="10475952" y="262890"/>
            <a:ext cx="56542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357074"/>
            <a:ext cx="190500" cy="1905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6250" y="1353264"/>
            <a:ext cx="895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phòng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228600" y="1703784"/>
            <a:ext cx="10927081" cy="50673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7670" y="1880949"/>
            <a:ext cx="148590" cy="15240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" y="1867614"/>
            <a:ext cx="8947666" cy="17907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9751576" y="1787604"/>
            <a:ext cx="1320284" cy="339090"/>
          </a:xfrm>
          <a:prstGeom prst="roundRect">
            <a:avLst>
              <a:gd name="adj" fmla="val 28090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83021" y="1885712"/>
            <a:ext cx="142875" cy="14287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083046" y="1880949"/>
            <a:ext cx="93356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lọc (mobile)</a:t>
            </a:r>
            <a:endParaRPr lang="en-US" sz="1013" dirty="0"/>
          </a:p>
        </p:txBody>
      </p:sp>
      <p:sp>
        <p:nvSpPr>
          <p:cNvPr id="24" name="Text 16"/>
          <p:cNvSpPr/>
          <p:nvPr/>
        </p:nvSpPr>
        <p:spPr>
          <a:xfrm>
            <a:off x="247650" y="2381964"/>
            <a:ext cx="142572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</a:t>
            </a:r>
            <a:pPr algn="l" indent="0" marL="0">
              <a:buNone/>
            </a:pPr>
            <a:r>
              <a:rPr lang="en-US" sz="1050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</a:t>
            </a:r>
            <a:pPr algn="l" indent="0" marL="0">
              <a:buNone/>
            </a:pPr>
            <a:r>
              <a:rPr lang="en-US" sz="1050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phòng phù hợp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0051376" y="2385774"/>
            <a:ext cx="1161455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Sắp xếp: </a:t>
            </a:r>
            <a:pPr algn="l" indent="0" marL="0">
              <a:buNone/>
            </a:pPr>
            <a:r>
              <a:rPr lang="en-US" sz="101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Mới nhất</a:t>
            </a:r>
            <a:endParaRPr lang="en-US" sz="1013" dirty="0"/>
          </a:p>
        </p:txBody>
      </p:sp>
      <p:sp>
        <p:nvSpPr>
          <p:cNvPr id="26" name="Shape 18"/>
          <p:cNvSpPr/>
          <p:nvPr/>
        </p:nvSpPr>
        <p:spPr>
          <a:xfrm>
            <a:off x="228600" y="2690574"/>
            <a:ext cx="2857500" cy="599313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407670" y="2869644"/>
            <a:ext cx="886063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Lọc tìm kiếm</a:t>
            </a:r>
            <a:endParaRPr lang="en-US" sz="1125" dirty="0"/>
          </a:p>
        </p:txBody>
      </p:sp>
      <p:sp>
        <p:nvSpPr>
          <p:cNvPr id="28" name="Text 20"/>
          <p:cNvSpPr/>
          <p:nvPr/>
        </p:nvSpPr>
        <p:spPr>
          <a:xfrm>
            <a:off x="2489871" y="2884884"/>
            <a:ext cx="38259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lại</a:t>
            </a:r>
            <a:endParaRPr lang="en-US" sz="938" dirty="0"/>
          </a:p>
        </p:txBody>
      </p:sp>
      <p:sp>
        <p:nvSpPr>
          <p:cNvPr id="29" name="Text 21"/>
          <p:cNvSpPr/>
          <p:nvPr/>
        </p:nvSpPr>
        <p:spPr>
          <a:xfrm>
            <a:off x="407670" y="3170634"/>
            <a:ext cx="27492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giá</a:t>
            </a:r>
            <a:endParaRPr lang="en-US" sz="1013" dirty="0"/>
          </a:p>
        </p:txBody>
      </p:sp>
      <p:sp>
        <p:nvSpPr>
          <p:cNvPr id="30" name="Shape 22"/>
          <p:cNvSpPr/>
          <p:nvPr/>
        </p:nvSpPr>
        <p:spPr>
          <a:xfrm>
            <a:off x="407670" y="3418284"/>
            <a:ext cx="171450" cy="171450"/>
          </a:xfrm>
          <a:prstGeom prst="roundRect">
            <a:avLst>
              <a:gd name="adj" fmla="val 27778"/>
            </a:avLst>
          </a:prstGeom>
          <a:ln w="7620">
            <a:solidFill>
              <a:srgbClr val="E5E8D9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64845" y="3423999"/>
            <a:ext cx="79748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Dưới 2 triệu</a:t>
            </a:r>
            <a:endParaRPr lang="en-US" sz="1013" dirty="0"/>
          </a:p>
        </p:txBody>
      </p:sp>
      <p:sp>
        <p:nvSpPr>
          <p:cNvPr id="32" name="Shape 24"/>
          <p:cNvSpPr/>
          <p:nvPr/>
        </p:nvSpPr>
        <p:spPr>
          <a:xfrm>
            <a:off x="407670" y="3684984"/>
            <a:ext cx="171450" cy="171450"/>
          </a:xfrm>
          <a:prstGeom prst="roundRect">
            <a:avLst>
              <a:gd name="adj" fmla="val 27778"/>
            </a:avLst>
          </a:prstGeom>
          <a:ln w="7620">
            <a:solidFill>
              <a:srgbClr val="E5E8D9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64845" y="3690699"/>
            <a:ext cx="70461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2 - 3 triệu</a:t>
            </a:r>
            <a:endParaRPr lang="en-US" sz="1013" dirty="0"/>
          </a:p>
        </p:txBody>
      </p:sp>
      <p:sp>
        <p:nvSpPr>
          <p:cNvPr id="34" name="Shape 26"/>
          <p:cNvSpPr/>
          <p:nvPr/>
        </p:nvSpPr>
        <p:spPr>
          <a:xfrm>
            <a:off x="407670" y="3951684"/>
            <a:ext cx="171450" cy="171450"/>
          </a:xfrm>
          <a:prstGeom prst="roundRect">
            <a:avLst>
              <a:gd name="adj" fmla="val 27778"/>
            </a:avLst>
          </a:prstGeom>
          <a:ln w="7620">
            <a:solidFill>
              <a:srgbClr val="E5E8D9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664845" y="3957399"/>
            <a:ext cx="70580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3 - 5 triệu</a:t>
            </a:r>
            <a:endParaRPr lang="en-US" sz="1013" dirty="0"/>
          </a:p>
        </p:txBody>
      </p:sp>
      <p:sp>
        <p:nvSpPr>
          <p:cNvPr id="36" name="Shape 28"/>
          <p:cNvSpPr/>
          <p:nvPr/>
        </p:nvSpPr>
        <p:spPr>
          <a:xfrm>
            <a:off x="407670" y="4218384"/>
            <a:ext cx="171450" cy="171450"/>
          </a:xfrm>
          <a:prstGeom prst="roundRect">
            <a:avLst>
              <a:gd name="adj" fmla="val 27778"/>
            </a:avLst>
          </a:prstGeom>
          <a:ln w="7620">
            <a:solidFill>
              <a:srgbClr val="E5E8D9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664845" y="4224099"/>
            <a:ext cx="69723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5 - 7 triệu</a:t>
            </a:r>
            <a:endParaRPr lang="en-US" sz="1013" dirty="0"/>
          </a:p>
        </p:txBody>
      </p:sp>
      <p:sp>
        <p:nvSpPr>
          <p:cNvPr id="38" name="Shape 30"/>
          <p:cNvSpPr/>
          <p:nvPr/>
        </p:nvSpPr>
        <p:spPr>
          <a:xfrm>
            <a:off x="407670" y="4485084"/>
            <a:ext cx="171450" cy="171450"/>
          </a:xfrm>
          <a:prstGeom prst="roundRect">
            <a:avLst>
              <a:gd name="adj" fmla="val 27778"/>
            </a:avLst>
          </a:prstGeom>
          <a:ln w="7620">
            <a:solidFill>
              <a:srgbClr val="E5E8D9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664845" y="4490799"/>
            <a:ext cx="77652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7 triệu</a:t>
            </a:r>
            <a:endParaRPr lang="en-US" sz="1013" dirty="0"/>
          </a:p>
        </p:txBody>
      </p:sp>
      <p:sp>
        <p:nvSpPr>
          <p:cNvPr id="40" name="Text 32"/>
          <p:cNvSpPr/>
          <p:nvPr/>
        </p:nvSpPr>
        <p:spPr>
          <a:xfrm>
            <a:off x="407670" y="4827984"/>
            <a:ext cx="27492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Diện tích</a:t>
            </a:r>
            <a:endParaRPr lang="en-US" sz="1013" dirty="0"/>
          </a:p>
        </p:txBody>
      </p:sp>
      <p:sp>
        <p:nvSpPr>
          <p:cNvPr id="41" name="Shape 33"/>
          <p:cNvSpPr/>
          <p:nvPr/>
        </p:nvSpPr>
        <p:spPr>
          <a:xfrm>
            <a:off x="407670" y="5075634"/>
            <a:ext cx="171450" cy="171450"/>
          </a:xfrm>
          <a:prstGeom prst="roundRect">
            <a:avLst>
              <a:gd name="adj" fmla="val 27778"/>
            </a:avLst>
          </a:prstGeom>
          <a:ln w="7620">
            <a:solidFill>
              <a:srgbClr val="E5E8D9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664845" y="5081349"/>
            <a:ext cx="73247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Dưới 20m²</a:t>
            </a:r>
            <a:endParaRPr lang="en-US" sz="1013" dirty="0"/>
          </a:p>
        </p:txBody>
      </p:sp>
      <p:sp>
        <p:nvSpPr>
          <p:cNvPr id="43" name="Shape 35"/>
          <p:cNvSpPr/>
          <p:nvPr/>
        </p:nvSpPr>
        <p:spPr>
          <a:xfrm>
            <a:off x="407670" y="5342334"/>
            <a:ext cx="171450" cy="171450"/>
          </a:xfrm>
          <a:prstGeom prst="roundRect">
            <a:avLst>
              <a:gd name="adj" fmla="val 27778"/>
            </a:avLst>
          </a:prstGeom>
          <a:ln w="7620">
            <a:solidFill>
              <a:srgbClr val="E5E8D9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64845" y="5348049"/>
            <a:ext cx="72532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20 - 30m²</a:t>
            </a:r>
            <a:endParaRPr lang="en-US" sz="1013" dirty="0"/>
          </a:p>
        </p:txBody>
      </p:sp>
      <p:sp>
        <p:nvSpPr>
          <p:cNvPr id="45" name="Shape 37"/>
          <p:cNvSpPr/>
          <p:nvPr/>
        </p:nvSpPr>
        <p:spPr>
          <a:xfrm>
            <a:off x="407670" y="5609034"/>
            <a:ext cx="171450" cy="171450"/>
          </a:xfrm>
          <a:prstGeom prst="roundRect">
            <a:avLst>
              <a:gd name="adj" fmla="val 27778"/>
            </a:avLst>
          </a:prstGeom>
          <a:ln w="7620">
            <a:solidFill>
              <a:srgbClr val="E5E8D9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664845" y="5614749"/>
            <a:ext cx="72651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30 - 50m²</a:t>
            </a:r>
            <a:endParaRPr lang="en-US" sz="1013" dirty="0"/>
          </a:p>
        </p:txBody>
      </p:sp>
      <p:sp>
        <p:nvSpPr>
          <p:cNvPr id="47" name="Shape 39"/>
          <p:cNvSpPr/>
          <p:nvPr/>
        </p:nvSpPr>
        <p:spPr>
          <a:xfrm>
            <a:off x="407670" y="5875734"/>
            <a:ext cx="171450" cy="171450"/>
          </a:xfrm>
          <a:prstGeom prst="roundRect">
            <a:avLst>
              <a:gd name="adj" fmla="val 27778"/>
            </a:avLst>
          </a:prstGeom>
          <a:ln w="7620">
            <a:solidFill>
              <a:srgbClr val="E5E8D9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664845" y="5881449"/>
            <a:ext cx="72009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50m²</a:t>
            </a:r>
            <a:endParaRPr lang="en-US" sz="1013" dirty="0"/>
          </a:p>
        </p:txBody>
      </p:sp>
      <p:sp>
        <p:nvSpPr>
          <p:cNvPr id="49" name="Text 41"/>
          <p:cNvSpPr/>
          <p:nvPr/>
        </p:nvSpPr>
        <p:spPr>
          <a:xfrm>
            <a:off x="407670" y="6218634"/>
            <a:ext cx="27492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Tiện nghi</a:t>
            </a:r>
            <a:endParaRPr lang="en-US" sz="1013" dirty="0"/>
          </a:p>
        </p:txBody>
      </p:sp>
      <p:sp>
        <p:nvSpPr>
          <p:cNvPr id="50" name="Shape 42"/>
          <p:cNvSpPr/>
          <p:nvPr/>
        </p:nvSpPr>
        <p:spPr>
          <a:xfrm>
            <a:off x="407670" y="6466284"/>
            <a:ext cx="171450" cy="171450"/>
          </a:xfrm>
          <a:prstGeom prst="roundRect">
            <a:avLst>
              <a:gd name="adj" fmla="val 27778"/>
            </a:avLst>
          </a:prstGeom>
          <a:ln w="7620">
            <a:solidFill>
              <a:srgbClr val="E5E8D9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664845" y="6471999"/>
            <a:ext cx="32373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</a:t>
            </a:r>
            <a:endParaRPr lang="en-US" sz="1013" dirty="0"/>
          </a:p>
        </p:txBody>
      </p:sp>
      <p:sp>
        <p:nvSpPr>
          <p:cNvPr id="52" name="Shape 44"/>
          <p:cNvSpPr/>
          <p:nvPr/>
        </p:nvSpPr>
        <p:spPr>
          <a:xfrm>
            <a:off x="407670" y="6732984"/>
            <a:ext cx="171450" cy="171450"/>
          </a:xfrm>
          <a:prstGeom prst="roundRect">
            <a:avLst>
              <a:gd name="adj" fmla="val 27778"/>
            </a:avLst>
          </a:prstGeom>
          <a:ln w="7620">
            <a:solidFill>
              <a:srgbClr val="E5E8D9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664845" y="6738699"/>
            <a:ext cx="63781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Máy lạnh</a:t>
            </a:r>
            <a:endParaRPr lang="en-US" sz="1013" dirty="0"/>
          </a:p>
        </p:txBody>
      </p:sp>
      <p:sp>
        <p:nvSpPr>
          <p:cNvPr id="54" name="Shape 46"/>
          <p:cNvSpPr/>
          <p:nvPr/>
        </p:nvSpPr>
        <p:spPr>
          <a:xfrm>
            <a:off x="407670" y="6999684"/>
            <a:ext cx="171450" cy="171450"/>
          </a:xfrm>
          <a:prstGeom prst="roundRect">
            <a:avLst>
              <a:gd name="adj" fmla="val 27778"/>
            </a:avLst>
          </a:prstGeom>
          <a:ln w="7620">
            <a:solidFill>
              <a:srgbClr val="E5E8D9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664845" y="7005399"/>
            <a:ext cx="62793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Máy giặt</a:t>
            </a:r>
            <a:endParaRPr lang="en-US" sz="1013" dirty="0"/>
          </a:p>
        </p:txBody>
      </p:sp>
      <p:sp>
        <p:nvSpPr>
          <p:cNvPr id="56" name="Shape 48"/>
          <p:cNvSpPr/>
          <p:nvPr/>
        </p:nvSpPr>
        <p:spPr>
          <a:xfrm>
            <a:off x="407670" y="7266384"/>
            <a:ext cx="171450" cy="171450"/>
          </a:xfrm>
          <a:prstGeom prst="roundRect">
            <a:avLst>
              <a:gd name="adj" fmla="val 27778"/>
            </a:avLst>
          </a:prstGeom>
          <a:ln w="7620">
            <a:solidFill>
              <a:srgbClr val="E5E8D9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664845" y="7272099"/>
            <a:ext cx="53066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Tủ lạnh</a:t>
            </a:r>
            <a:endParaRPr lang="en-US" sz="1013" dirty="0"/>
          </a:p>
        </p:txBody>
      </p:sp>
      <p:sp>
        <p:nvSpPr>
          <p:cNvPr id="58" name="Shape 50"/>
          <p:cNvSpPr/>
          <p:nvPr/>
        </p:nvSpPr>
        <p:spPr>
          <a:xfrm>
            <a:off x="407670" y="7533084"/>
            <a:ext cx="171450" cy="171450"/>
          </a:xfrm>
          <a:prstGeom prst="roundRect">
            <a:avLst>
              <a:gd name="adj" fmla="val 27778"/>
            </a:avLst>
          </a:prstGeom>
          <a:ln w="7620">
            <a:solidFill>
              <a:srgbClr val="E5E8D9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664845" y="7538799"/>
            <a:ext cx="45529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Bãi xe</a:t>
            </a:r>
            <a:endParaRPr lang="en-US" sz="1013" dirty="0"/>
          </a:p>
        </p:txBody>
      </p:sp>
      <p:sp>
        <p:nvSpPr>
          <p:cNvPr id="60" name="Shape 52"/>
          <p:cNvSpPr/>
          <p:nvPr/>
        </p:nvSpPr>
        <p:spPr>
          <a:xfrm>
            <a:off x="407670" y="7799784"/>
            <a:ext cx="171450" cy="171450"/>
          </a:xfrm>
          <a:prstGeom prst="roundRect">
            <a:avLst>
              <a:gd name="adj" fmla="val 27778"/>
            </a:avLst>
          </a:prstGeom>
          <a:ln w="7620">
            <a:solidFill>
              <a:srgbClr val="E5E8D9"/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664845" y="7805499"/>
            <a:ext cx="57792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013" dirty="0"/>
          </a:p>
        </p:txBody>
      </p:sp>
      <p:sp>
        <p:nvSpPr>
          <p:cNvPr id="62" name="Shape 54"/>
          <p:cNvSpPr/>
          <p:nvPr/>
        </p:nvSpPr>
        <p:spPr>
          <a:xfrm>
            <a:off x="407670" y="8066484"/>
            <a:ext cx="171450" cy="171450"/>
          </a:xfrm>
          <a:prstGeom prst="roundRect">
            <a:avLst>
              <a:gd name="adj" fmla="val 27778"/>
            </a:avLst>
          </a:prstGeom>
          <a:ln w="7620">
            <a:solidFill>
              <a:srgbClr val="E5E8D9"/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664845" y="8072199"/>
            <a:ext cx="77497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Thang máy</a:t>
            </a:r>
            <a:endParaRPr lang="en-US" sz="1013" dirty="0"/>
          </a:p>
        </p:txBody>
      </p:sp>
      <p:sp>
        <p:nvSpPr>
          <p:cNvPr id="64" name="Shape 56"/>
          <p:cNvSpPr/>
          <p:nvPr/>
        </p:nvSpPr>
        <p:spPr>
          <a:xfrm>
            <a:off x="407670" y="8333184"/>
            <a:ext cx="171450" cy="171450"/>
          </a:xfrm>
          <a:prstGeom prst="roundRect">
            <a:avLst>
              <a:gd name="adj" fmla="val 27778"/>
            </a:avLst>
          </a:prstGeom>
          <a:ln w="7620">
            <a:solidFill>
              <a:srgbClr val="E5E8D9"/>
            </a:solidFill>
            <a:prstDash val="solid"/>
          </a:ln>
        </p:spPr>
      </p:sp>
      <p:sp>
        <p:nvSpPr>
          <p:cNvPr id="65" name="Text 57"/>
          <p:cNvSpPr/>
          <p:nvPr/>
        </p:nvSpPr>
        <p:spPr>
          <a:xfrm>
            <a:off x="664845" y="8338899"/>
            <a:ext cx="53030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ninh</a:t>
            </a:r>
            <a:endParaRPr lang="en-US" sz="1013" dirty="0"/>
          </a:p>
        </p:txBody>
      </p:sp>
      <p:sp>
        <p:nvSpPr>
          <p:cNvPr id="66" name="Shape 58"/>
          <p:cNvSpPr/>
          <p:nvPr/>
        </p:nvSpPr>
        <p:spPr>
          <a:xfrm>
            <a:off x="3276600" y="2690574"/>
            <a:ext cx="2511981" cy="3122771"/>
          </a:xfrm>
          <a:prstGeom prst="roundRect">
            <a:avLst>
              <a:gd name="adj" fmla="val 6825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12"/>
          <a:srcRect l="0" r="0" t="1359" b="1359"/>
          <a:stretch/>
        </p:blipFill>
        <p:spPr>
          <a:xfrm>
            <a:off x="3284220" y="2698194"/>
            <a:ext cx="2496741" cy="1619250"/>
          </a:xfrm>
          <a:prstGeom prst="rect">
            <a:avLst/>
          </a:prstGeom>
        </p:spPr>
      </p:pic>
      <p:sp>
        <p:nvSpPr>
          <p:cNvPr id="68" name="Shape 59"/>
          <p:cNvSpPr/>
          <p:nvPr/>
        </p:nvSpPr>
        <p:spPr>
          <a:xfrm>
            <a:off x="3398520" y="2812494"/>
            <a:ext cx="781050" cy="217170"/>
          </a:xfrm>
          <a:prstGeom prst="roundRect">
            <a:avLst>
              <a:gd name="adj" fmla="val 35088"/>
            </a:avLst>
          </a:prstGeom>
          <a:solidFill>
            <a:srgbClr val="3F4A1F"/>
          </a:solidFill>
          <a:ln/>
        </p:spPr>
      </p:sp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93770" y="2863929"/>
            <a:ext cx="114300" cy="114300"/>
          </a:xfrm>
          <a:prstGeom prst="rect">
            <a:avLst/>
          </a:prstGeom>
        </p:spPr>
      </p:pic>
      <p:sp>
        <p:nvSpPr>
          <p:cNvPr id="70" name="Text 60"/>
          <p:cNvSpPr/>
          <p:nvPr/>
        </p:nvSpPr>
        <p:spPr>
          <a:xfrm>
            <a:off x="3646170" y="2860119"/>
            <a:ext cx="5143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NỔI BẬT</a:t>
            </a:r>
            <a:endParaRPr lang="en-US" sz="863" dirty="0"/>
          </a:p>
        </p:txBody>
      </p:sp>
      <p:sp>
        <p:nvSpPr>
          <p:cNvPr id="71" name="Shape 61"/>
          <p:cNvSpPr/>
          <p:nvPr/>
        </p:nvSpPr>
        <p:spPr>
          <a:xfrm>
            <a:off x="5361861" y="2812494"/>
            <a:ext cx="304800" cy="30480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72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38061" y="2888694"/>
            <a:ext cx="152400" cy="152400"/>
          </a:xfrm>
          <a:prstGeom prst="rect">
            <a:avLst/>
          </a:prstGeom>
        </p:spPr>
      </p:pic>
      <p:pic>
        <p:nvPicPr>
          <p:cNvPr id="73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417570" y="4457461"/>
            <a:ext cx="123825" cy="123825"/>
          </a:xfrm>
          <a:prstGeom prst="rect">
            <a:avLst/>
          </a:prstGeom>
        </p:spPr>
      </p:pic>
      <p:sp>
        <p:nvSpPr>
          <p:cNvPr id="74" name="Text 62"/>
          <p:cNvSpPr/>
          <p:nvPr/>
        </p:nvSpPr>
        <p:spPr>
          <a:xfrm>
            <a:off x="3569970" y="4450794"/>
            <a:ext cx="24169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38" dirty="0"/>
          </a:p>
        </p:txBody>
      </p:sp>
      <p:sp>
        <p:nvSpPr>
          <p:cNvPr id="75" name="Text 63"/>
          <p:cNvSpPr/>
          <p:nvPr/>
        </p:nvSpPr>
        <p:spPr>
          <a:xfrm>
            <a:off x="3417570" y="4668917"/>
            <a:ext cx="2453045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6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Phòng ban công thoáng mát</a:t>
            </a:r>
            <a:endParaRPr lang="en-US" sz="1163" dirty="0"/>
          </a:p>
        </p:txBody>
      </p:sp>
      <p:pic>
        <p:nvPicPr>
          <p:cNvPr id="76" name="Image 10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417570" y="4913233"/>
            <a:ext cx="123825" cy="123825"/>
          </a:xfrm>
          <a:prstGeom prst="rect">
            <a:avLst/>
          </a:prstGeom>
        </p:spPr>
      </p:pic>
      <p:sp>
        <p:nvSpPr>
          <p:cNvPr id="77" name="Text 64"/>
          <p:cNvSpPr/>
          <p:nvPr/>
        </p:nvSpPr>
        <p:spPr>
          <a:xfrm>
            <a:off x="3579495" y="4898945"/>
            <a:ext cx="15069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Quận 7, TP. Hồ Chí Minh</a:t>
            </a:r>
            <a:endParaRPr lang="en-US" sz="938" dirty="0"/>
          </a:p>
        </p:txBody>
      </p:sp>
      <p:sp>
        <p:nvSpPr>
          <p:cNvPr id="78" name="Text 65"/>
          <p:cNvSpPr/>
          <p:nvPr/>
        </p:nvSpPr>
        <p:spPr>
          <a:xfrm>
            <a:off x="3417570" y="5146595"/>
            <a:ext cx="24530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4.500.000đ </a:t>
            </a:r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/tháng</a:t>
            </a:r>
            <a:endParaRPr lang="en-US" sz="1000" dirty="0"/>
          </a:p>
        </p:txBody>
      </p:sp>
      <p:sp>
        <p:nvSpPr>
          <p:cNvPr id="79" name="Shape 66"/>
          <p:cNvSpPr/>
          <p:nvPr/>
        </p:nvSpPr>
        <p:spPr>
          <a:xfrm>
            <a:off x="3417570" y="5432345"/>
            <a:ext cx="2230041" cy="9525"/>
          </a:xfrm>
          <a:prstGeom prst="rect">
            <a:avLst/>
          </a:prstGeom>
          <a:solidFill>
            <a:srgbClr val="E5E8D9"/>
          </a:solidFill>
          <a:ln/>
        </p:spPr>
      </p:sp>
      <p:pic>
        <p:nvPicPr>
          <p:cNvPr id="80" name="Image 11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417570" y="5537120"/>
            <a:ext cx="133350" cy="133350"/>
          </a:xfrm>
          <a:prstGeom prst="rect">
            <a:avLst/>
          </a:prstGeom>
        </p:spPr>
      </p:pic>
      <p:sp>
        <p:nvSpPr>
          <p:cNvPr id="81" name="Text 67"/>
          <p:cNvSpPr/>
          <p:nvPr/>
        </p:nvSpPr>
        <p:spPr>
          <a:xfrm>
            <a:off x="3589020" y="5535215"/>
            <a:ext cx="208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38" dirty="0"/>
          </a:p>
        </p:txBody>
      </p:sp>
      <p:sp>
        <p:nvSpPr>
          <p:cNvPr id="82" name="Text 68"/>
          <p:cNvSpPr/>
          <p:nvPr/>
        </p:nvSpPr>
        <p:spPr>
          <a:xfrm>
            <a:off x="3759518" y="5535215"/>
            <a:ext cx="21502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m²</a:t>
            </a:r>
            <a:endParaRPr lang="en-US" sz="938" dirty="0"/>
          </a:p>
        </p:txBody>
      </p:sp>
      <p:pic>
        <p:nvPicPr>
          <p:cNvPr id="83" name="Image 12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031694" y="5537120"/>
            <a:ext cx="133350" cy="133350"/>
          </a:xfrm>
          <a:prstGeom prst="rect">
            <a:avLst/>
          </a:prstGeom>
        </p:spPr>
      </p:pic>
      <p:sp>
        <p:nvSpPr>
          <p:cNvPr id="84" name="Text 69"/>
          <p:cNvSpPr/>
          <p:nvPr/>
        </p:nvSpPr>
        <p:spPr>
          <a:xfrm>
            <a:off x="4203144" y="5535215"/>
            <a:ext cx="34754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</a:t>
            </a:r>
            <a:endParaRPr lang="en-US" sz="938" dirty="0"/>
          </a:p>
        </p:txBody>
      </p:sp>
      <p:sp>
        <p:nvSpPr>
          <p:cNvPr id="85" name="Text 70"/>
          <p:cNvSpPr/>
          <p:nvPr/>
        </p:nvSpPr>
        <p:spPr>
          <a:xfrm>
            <a:off x="4512588" y="5535215"/>
            <a:ext cx="14239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38" dirty="0"/>
          </a:p>
        </p:txBody>
      </p:sp>
      <p:pic>
        <p:nvPicPr>
          <p:cNvPr id="86" name="Image 13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712137" y="5537120"/>
            <a:ext cx="133350" cy="133350"/>
          </a:xfrm>
          <a:prstGeom prst="rect">
            <a:avLst/>
          </a:prstGeom>
        </p:spPr>
      </p:pic>
      <p:sp>
        <p:nvSpPr>
          <p:cNvPr id="87" name="Text 71"/>
          <p:cNvSpPr/>
          <p:nvPr/>
        </p:nvSpPr>
        <p:spPr>
          <a:xfrm>
            <a:off x="4883587" y="5535215"/>
            <a:ext cx="57233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riêng</a:t>
            </a:r>
            <a:endParaRPr lang="en-US" sz="938" dirty="0"/>
          </a:p>
        </p:txBody>
      </p:sp>
      <p:sp>
        <p:nvSpPr>
          <p:cNvPr id="88" name="Shape 72"/>
          <p:cNvSpPr/>
          <p:nvPr/>
        </p:nvSpPr>
        <p:spPr>
          <a:xfrm>
            <a:off x="5960031" y="2690574"/>
            <a:ext cx="2512100" cy="3122771"/>
          </a:xfrm>
          <a:prstGeom prst="roundRect">
            <a:avLst>
              <a:gd name="adj" fmla="val 6825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89" name="Image 14" descr="preencoded.png">    </p:cNvPr>
          <p:cNvPicPr>
            <a:picLocks noChangeAspect="1"/>
          </p:cNvPicPr>
          <p:nvPr/>
        </p:nvPicPr>
        <p:blipFill>
          <a:blip r:embed="rId27"/>
          <a:srcRect l="0" r="0" t="6443" b="6443"/>
          <a:stretch/>
        </p:blipFill>
        <p:spPr>
          <a:xfrm>
            <a:off x="5967651" y="2698194"/>
            <a:ext cx="2496860" cy="1619250"/>
          </a:xfrm>
          <a:prstGeom prst="rect">
            <a:avLst/>
          </a:prstGeom>
        </p:spPr>
      </p:pic>
      <p:sp>
        <p:nvSpPr>
          <p:cNvPr id="90" name="Shape 73"/>
          <p:cNvSpPr/>
          <p:nvPr/>
        </p:nvSpPr>
        <p:spPr>
          <a:xfrm>
            <a:off x="6081951" y="2812494"/>
            <a:ext cx="841891" cy="217170"/>
          </a:xfrm>
          <a:prstGeom prst="roundRect">
            <a:avLst>
              <a:gd name="adj" fmla="val 35088"/>
            </a:avLst>
          </a:prstGeom>
          <a:solidFill>
            <a:srgbClr val="F97316"/>
          </a:solidFill>
          <a:ln/>
        </p:spPr>
      </p:sp>
      <p:pic>
        <p:nvPicPr>
          <p:cNvPr id="91" name="Image 15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177201" y="2863929"/>
            <a:ext cx="114300" cy="114300"/>
          </a:xfrm>
          <a:prstGeom prst="rect">
            <a:avLst/>
          </a:prstGeom>
        </p:spPr>
      </p:pic>
      <p:sp>
        <p:nvSpPr>
          <p:cNvPr id="92" name="Text 74"/>
          <p:cNvSpPr/>
          <p:nvPr/>
        </p:nvSpPr>
        <p:spPr>
          <a:xfrm>
            <a:off x="6329601" y="2860119"/>
            <a:ext cx="5751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GIÁ</a:t>
            </a:r>
            <a:endParaRPr lang="en-US" sz="863" dirty="0"/>
          </a:p>
        </p:txBody>
      </p:sp>
      <p:sp>
        <p:nvSpPr>
          <p:cNvPr id="93" name="Shape 75"/>
          <p:cNvSpPr/>
          <p:nvPr/>
        </p:nvSpPr>
        <p:spPr>
          <a:xfrm>
            <a:off x="8045411" y="2812494"/>
            <a:ext cx="304800" cy="30480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94" name="Image 16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121611" y="2888694"/>
            <a:ext cx="152400" cy="152400"/>
          </a:xfrm>
          <a:prstGeom prst="rect">
            <a:avLst/>
          </a:prstGeom>
        </p:spPr>
      </p:pic>
      <p:pic>
        <p:nvPicPr>
          <p:cNvPr id="95" name="Image 17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101001" y="4457461"/>
            <a:ext cx="123825" cy="123825"/>
          </a:xfrm>
          <a:prstGeom prst="rect">
            <a:avLst/>
          </a:prstGeom>
        </p:spPr>
      </p:pic>
      <p:sp>
        <p:nvSpPr>
          <p:cNvPr id="96" name="Text 76"/>
          <p:cNvSpPr/>
          <p:nvPr/>
        </p:nvSpPr>
        <p:spPr>
          <a:xfrm>
            <a:off x="6253401" y="4450794"/>
            <a:ext cx="24169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938" dirty="0"/>
          </a:p>
        </p:txBody>
      </p:sp>
      <p:sp>
        <p:nvSpPr>
          <p:cNvPr id="97" name="Text 77"/>
          <p:cNvSpPr/>
          <p:nvPr/>
        </p:nvSpPr>
        <p:spPr>
          <a:xfrm>
            <a:off x="6101001" y="4668917"/>
            <a:ext cx="245317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6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Căn hộ mini full nội thất</a:t>
            </a:r>
            <a:endParaRPr lang="en-US" sz="1163" dirty="0"/>
          </a:p>
        </p:txBody>
      </p:sp>
      <p:pic>
        <p:nvPicPr>
          <p:cNvPr id="98" name="Image 18" descr="preencoded.png">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101001" y="4913233"/>
            <a:ext cx="123825" cy="123825"/>
          </a:xfrm>
          <a:prstGeom prst="rect">
            <a:avLst/>
          </a:prstGeom>
        </p:spPr>
      </p:pic>
      <p:sp>
        <p:nvSpPr>
          <p:cNvPr id="99" name="Text 78"/>
          <p:cNvSpPr/>
          <p:nvPr/>
        </p:nvSpPr>
        <p:spPr>
          <a:xfrm>
            <a:off x="6262926" y="4898945"/>
            <a:ext cx="17608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Bình Thạnh, TP. Hồ Chí Minh</a:t>
            </a:r>
            <a:endParaRPr lang="en-US" sz="938" dirty="0"/>
          </a:p>
        </p:txBody>
      </p:sp>
      <p:sp>
        <p:nvSpPr>
          <p:cNvPr id="100" name="Text 79"/>
          <p:cNvSpPr/>
          <p:nvPr/>
        </p:nvSpPr>
        <p:spPr>
          <a:xfrm>
            <a:off x="6101001" y="5146595"/>
            <a:ext cx="24531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trike="sngStrike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5.800.000đ </a:t>
            </a:r>
            <a:pPr algn="l" indent="0" marL="0">
              <a:buNone/>
            </a:pPr>
            <a:r>
              <a:rPr lang="en-US" sz="1275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5.200.000đ </a:t>
            </a:r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/tháng</a:t>
            </a:r>
            <a:endParaRPr lang="en-US" sz="1000" dirty="0"/>
          </a:p>
        </p:txBody>
      </p:sp>
      <p:sp>
        <p:nvSpPr>
          <p:cNvPr id="101" name="Shape 80"/>
          <p:cNvSpPr/>
          <p:nvPr/>
        </p:nvSpPr>
        <p:spPr>
          <a:xfrm>
            <a:off x="6101001" y="5432345"/>
            <a:ext cx="2230160" cy="9525"/>
          </a:xfrm>
          <a:prstGeom prst="rect">
            <a:avLst/>
          </a:prstGeom>
          <a:solidFill>
            <a:srgbClr val="E5E8D9"/>
          </a:solidFill>
          <a:ln/>
        </p:spPr>
      </p:sp>
      <p:pic>
        <p:nvPicPr>
          <p:cNvPr id="102" name="Image 19" descr="preencoded.png">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101001" y="5537120"/>
            <a:ext cx="133350" cy="133350"/>
          </a:xfrm>
          <a:prstGeom prst="rect">
            <a:avLst/>
          </a:prstGeom>
        </p:spPr>
      </p:pic>
      <p:sp>
        <p:nvSpPr>
          <p:cNvPr id="103" name="Text 81"/>
          <p:cNvSpPr/>
          <p:nvPr/>
        </p:nvSpPr>
        <p:spPr>
          <a:xfrm>
            <a:off x="6272451" y="5535215"/>
            <a:ext cx="208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38" dirty="0"/>
          </a:p>
        </p:txBody>
      </p:sp>
      <p:sp>
        <p:nvSpPr>
          <p:cNvPr id="104" name="Text 82"/>
          <p:cNvSpPr/>
          <p:nvPr/>
        </p:nvSpPr>
        <p:spPr>
          <a:xfrm>
            <a:off x="6442948" y="5535215"/>
            <a:ext cx="21502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m²</a:t>
            </a:r>
            <a:endParaRPr lang="en-US" sz="938" dirty="0"/>
          </a:p>
        </p:txBody>
      </p:sp>
      <p:pic>
        <p:nvPicPr>
          <p:cNvPr id="105" name="Image 20" descr="preencoded.png">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6715125" y="5537120"/>
            <a:ext cx="133350" cy="133350"/>
          </a:xfrm>
          <a:prstGeom prst="rect">
            <a:avLst/>
          </a:prstGeom>
        </p:spPr>
      </p:pic>
      <p:sp>
        <p:nvSpPr>
          <p:cNvPr id="106" name="Text 83"/>
          <p:cNvSpPr/>
          <p:nvPr/>
        </p:nvSpPr>
        <p:spPr>
          <a:xfrm>
            <a:off x="6886575" y="5535215"/>
            <a:ext cx="34754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</a:t>
            </a:r>
            <a:endParaRPr lang="en-US" sz="938" dirty="0"/>
          </a:p>
        </p:txBody>
      </p:sp>
      <p:sp>
        <p:nvSpPr>
          <p:cNvPr id="107" name="Text 84"/>
          <p:cNvSpPr/>
          <p:nvPr/>
        </p:nvSpPr>
        <p:spPr>
          <a:xfrm>
            <a:off x="7196018" y="5535215"/>
            <a:ext cx="14239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38" dirty="0"/>
          </a:p>
        </p:txBody>
      </p:sp>
      <p:pic>
        <p:nvPicPr>
          <p:cNvPr id="108" name="Image 21" descr="preencoded.png">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7395567" y="5537120"/>
            <a:ext cx="133350" cy="133350"/>
          </a:xfrm>
          <a:prstGeom prst="rect">
            <a:avLst/>
          </a:prstGeom>
        </p:spPr>
      </p:pic>
      <p:sp>
        <p:nvSpPr>
          <p:cNvPr id="109" name="Text 85"/>
          <p:cNvSpPr/>
          <p:nvPr/>
        </p:nvSpPr>
        <p:spPr>
          <a:xfrm>
            <a:off x="7567017" y="5535215"/>
            <a:ext cx="57233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riêng</a:t>
            </a:r>
            <a:endParaRPr lang="en-US" sz="938" dirty="0"/>
          </a:p>
        </p:txBody>
      </p:sp>
      <p:sp>
        <p:nvSpPr>
          <p:cNvPr id="110" name="Shape 86"/>
          <p:cNvSpPr/>
          <p:nvPr/>
        </p:nvSpPr>
        <p:spPr>
          <a:xfrm>
            <a:off x="8643581" y="2690574"/>
            <a:ext cx="2511981" cy="3314700"/>
          </a:xfrm>
          <a:prstGeom prst="roundRect">
            <a:avLst>
              <a:gd name="adj" fmla="val 6825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111" name="Image 22" descr="preencoded.png">    </p:cNvPr>
          <p:cNvPicPr>
            <a:picLocks noChangeAspect="1"/>
          </p:cNvPicPr>
          <p:nvPr/>
        </p:nvPicPr>
        <p:blipFill>
          <a:blip r:embed="rId42"/>
          <a:srcRect l="0" r="0" t="1359" b="1359"/>
          <a:stretch/>
        </p:blipFill>
        <p:spPr>
          <a:xfrm>
            <a:off x="8651200" y="2698194"/>
            <a:ext cx="2496741" cy="1619250"/>
          </a:xfrm>
          <a:prstGeom prst="rect">
            <a:avLst/>
          </a:prstGeom>
        </p:spPr>
      </p:pic>
      <p:sp>
        <p:nvSpPr>
          <p:cNvPr id="112" name="Shape 87"/>
          <p:cNvSpPr/>
          <p:nvPr/>
        </p:nvSpPr>
        <p:spPr>
          <a:xfrm>
            <a:off x="10728842" y="2812494"/>
            <a:ext cx="304800" cy="30480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113" name="Image 23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0805042" y="2888694"/>
            <a:ext cx="152400" cy="152400"/>
          </a:xfrm>
          <a:prstGeom prst="rect">
            <a:avLst/>
          </a:prstGeom>
        </p:spPr>
      </p:pic>
      <p:pic>
        <p:nvPicPr>
          <p:cNvPr id="114" name="Image 24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784550" y="4457461"/>
            <a:ext cx="123825" cy="123825"/>
          </a:xfrm>
          <a:prstGeom prst="rect">
            <a:avLst/>
          </a:prstGeom>
        </p:spPr>
      </p:pic>
      <p:sp>
        <p:nvSpPr>
          <p:cNvPr id="115" name="Text 88"/>
          <p:cNvSpPr/>
          <p:nvPr/>
        </p:nvSpPr>
        <p:spPr>
          <a:xfrm>
            <a:off x="8936950" y="4450794"/>
            <a:ext cx="24169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938" dirty="0"/>
          </a:p>
        </p:txBody>
      </p:sp>
      <p:sp>
        <p:nvSpPr>
          <p:cNvPr id="116" name="Text 89"/>
          <p:cNvSpPr/>
          <p:nvPr/>
        </p:nvSpPr>
        <p:spPr>
          <a:xfrm>
            <a:off x="8784550" y="4668917"/>
            <a:ext cx="2306241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6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Phòng trọ gần ĐH Tôn Đức Thắng</a:t>
            </a:r>
            <a:endParaRPr lang="en-US" sz="1163" dirty="0"/>
          </a:p>
        </p:txBody>
      </p:sp>
      <p:pic>
        <p:nvPicPr>
          <p:cNvPr id="117" name="Image 25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8784550" y="5105161"/>
            <a:ext cx="123825" cy="123825"/>
          </a:xfrm>
          <a:prstGeom prst="rect">
            <a:avLst/>
          </a:prstGeom>
        </p:spPr>
      </p:pic>
      <p:sp>
        <p:nvSpPr>
          <p:cNvPr id="118" name="Text 90"/>
          <p:cNvSpPr/>
          <p:nvPr/>
        </p:nvSpPr>
        <p:spPr>
          <a:xfrm>
            <a:off x="8946475" y="5090874"/>
            <a:ext cx="15069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Quận 7, TP. Hồ Chí Minh</a:t>
            </a:r>
            <a:endParaRPr lang="en-US" sz="938" dirty="0"/>
          </a:p>
        </p:txBody>
      </p:sp>
      <p:sp>
        <p:nvSpPr>
          <p:cNvPr id="119" name="Text 91"/>
          <p:cNvSpPr/>
          <p:nvPr/>
        </p:nvSpPr>
        <p:spPr>
          <a:xfrm>
            <a:off x="8784550" y="5338524"/>
            <a:ext cx="24530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3.800.000đ </a:t>
            </a:r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/tháng</a:t>
            </a:r>
            <a:endParaRPr lang="en-US" sz="1000" dirty="0"/>
          </a:p>
        </p:txBody>
      </p:sp>
      <p:sp>
        <p:nvSpPr>
          <p:cNvPr id="120" name="Shape 92"/>
          <p:cNvSpPr/>
          <p:nvPr/>
        </p:nvSpPr>
        <p:spPr>
          <a:xfrm>
            <a:off x="8784550" y="5624274"/>
            <a:ext cx="2230041" cy="9525"/>
          </a:xfrm>
          <a:prstGeom prst="rect">
            <a:avLst/>
          </a:prstGeom>
          <a:solidFill>
            <a:srgbClr val="E5E8D9"/>
          </a:solidFill>
          <a:ln/>
        </p:spPr>
      </p:sp>
      <p:pic>
        <p:nvPicPr>
          <p:cNvPr id="121" name="Image 26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8784550" y="5729049"/>
            <a:ext cx="133350" cy="133350"/>
          </a:xfrm>
          <a:prstGeom prst="rect">
            <a:avLst/>
          </a:prstGeom>
        </p:spPr>
      </p:pic>
      <p:sp>
        <p:nvSpPr>
          <p:cNvPr id="122" name="Text 93"/>
          <p:cNvSpPr/>
          <p:nvPr/>
        </p:nvSpPr>
        <p:spPr>
          <a:xfrm>
            <a:off x="8956000" y="5727144"/>
            <a:ext cx="208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38" dirty="0"/>
          </a:p>
        </p:txBody>
      </p:sp>
      <p:sp>
        <p:nvSpPr>
          <p:cNvPr id="123" name="Text 94"/>
          <p:cNvSpPr/>
          <p:nvPr/>
        </p:nvSpPr>
        <p:spPr>
          <a:xfrm>
            <a:off x="9126498" y="5727144"/>
            <a:ext cx="21502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m²</a:t>
            </a:r>
            <a:endParaRPr lang="en-US" sz="938" dirty="0"/>
          </a:p>
        </p:txBody>
      </p:sp>
      <p:pic>
        <p:nvPicPr>
          <p:cNvPr id="124" name="Image 27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9398675" y="5729049"/>
            <a:ext cx="133350" cy="133350"/>
          </a:xfrm>
          <a:prstGeom prst="rect">
            <a:avLst/>
          </a:prstGeom>
        </p:spPr>
      </p:pic>
      <p:sp>
        <p:nvSpPr>
          <p:cNvPr id="125" name="Text 95"/>
          <p:cNvSpPr/>
          <p:nvPr/>
        </p:nvSpPr>
        <p:spPr>
          <a:xfrm>
            <a:off x="9570125" y="5727144"/>
            <a:ext cx="34754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</a:t>
            </a:r>
            <a:endParaRPr lang="en-US" sz="938" dirty="0"/>
          </a:p>
        </p:txBody>
      </p:sp>
      <p:sp>
        <p:nvSpPr>
          <p:cNvPr id="126" name="Text 96"/>
          <p:cNvSpPr/>
          <p:nvPr/>
        </p:nvSpPr>
        <p:spPr>
          <a:xfrm>
            <a:off x="9879568" y="5727144"/>
            <a:ext cx="14239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38" dirty="0"/>
          </a:p>
        </p:txBody>
      </p:sp>
      <p:pic>
        <p:nvPicPr>
          <p:cNvPr id="127" name="Image 28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0079117" y="5729049"/>
            <a:ext cx="133350" cy="133350"/>
          </a:xfrm>
          <a:prstGeom prst="rect">
            <a:avLst/>
          </a:prstGeom>
        </p:spPr>
      </p:pic>
      <p:sp>
        <p:nvSpPr>
          <p:cNvPr id="128" name="Text 97"/>
          <p:cNvSpPr/>
          <p:nvPr/>
        </p:nvSpPr>
        <p:spPr>
          <a:xfrm>
            <a:off x="10250567" y="5727144"/>
            <a:ext cx="57233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riêng</a:t>
            </a:r>
            <a:endParaRPr lang="en-US" sz="938" dirty="0"/>
          </a:p>
        </p:txBody>
      </p:sp>
      <p:sp>
        <p:nvSpPr>
          <p:cNvPr id="129" name="Shape 98"/>
          <p:cNvSpPr/>
          <p:nvPr/>
        </p:nvSpPr>
        <p:spPr>
          <a:xfrm>
            <a:off x="3276600" y="6176724"/>
            <a:ext cx="2511981" cy="3122771"/>
          </a:xfrm>
          <a:prstGeom prst="roundRect">
            <a:avLst>
              <a:gd name="adj" fmla="val 6825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130" name="Image 29" descr="preencoded.png">    </p:cNvPr>
          <p:cNvPicPr>
            <a:picLocks noChangeAspect="1"/>
          </p:cNvPicPr>
          <p:nvPr/>
        </p:nvPicPr>
        <p:blipFill>
          <a:blip r:embed="rId55"/>
          <a:srcRect l="0" r="0" t="1359" b="1359"/>
          <a:stretch/>
        </p:blipFill>
        <p:spPr>
          <a:xfrm>
            <a:off x="3284220" y="6184344"/>
            <a:ext cx="2496741" cy="1619250"/>
          </a:xfrm>
          <a:prstGeom prst="rect">
            <a:avLst/>
          </a:prstGeom>
        </p:spPr>
      </p:pic>
      <p:sp>
        <p:nvSpPr>
          <p:cNvPr id="131" name="Shape 99"/>
          <p:cNvSpPr/>
          <p:nvPr/>
        </p:nvSpPr>
        <p:spPr>
          <a:xfrm>
            <a:off x="5361861" y="6298644"/>
            <a:ext cx="304800" cy="30480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132" name="Image 30" descr="preencoded.png">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5438061" y="6374844"/>
            <a:ext cx="152400" cy="152400"/>
          </a:xfrm>
          <a:prstGeom prst="rect">
            <a:avLst/>
          </a:prstGeom>
        </p:spPr>
      </p:pic>
      <p:pic>
        <p:nvPicPr>
          <p:cNvPr id="133" name="Image 31" descr="preencoded.png">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3417570" y="7943612"/>
            <a:ext cx="123825" cy="123825"/>
          </a:xfrm>
          <a:prstGeom prst="rect">
            <a:avLst/>
          </a:prstGeom>
        </p:spPr>
      </p:pic>
      <p:sp>
        <p:nvSpPr>
          <p:cNvPr id="134" name="Text 100"/>
          <p:cNvSpPr/>
          <p:nvPr/>
        </p:nvSpPr>
        <p:spPr>
          <a:xfrm>
            <a:off x="3569970" y="7936944"/>
            <a:ext cx="24169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938" dirty="0"/>
          </a:p>
        </p:txBody>
      </p:sp>
      <p:sp>
        <p:nvSpPr>
          <p:cNvPr id="135" name="Text 101"/>
          <p:cNvSpPr/>
          <p:nvPr/>
        </p:nvSpPr>
        <p:spPr>
          <a:xfrm>
            <a:off x="3417570" y="8155067"/>
            <a:ext cx="2453045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6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Phòng rộng, cửa sổ lớn</a:t>
            </a:r>
            <a:endParaRPr lang="en-US" sz="1163" dirty="0"/>
          </a:p>
        </p:txBody>
      </p:sp>
      <p:pic>
        <p:nvPicPr>
          <p:cNvPr id="136" name="Image 32" descr="preencoded.png">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3417570" y="8399383"/>
            <a:ext cx="123825" cy="123825"/>
          </a:xfrm>
          <a:prstGeom prst="rect">
            <a:avLst/>
          </a:prstGeom>
        </p:spPr>
      </p:pic>
      <p:sp>
        <p:nvSpPr>
          <p:cNvPr id="137" name="Text 102"/>
          <p:cNvSpPr/>
          <p:nvPr/>
        </p:nvSpPr>
        <p:spPr>
          <a:xfrm>
            <a:off x="3579495" y="8385095"/>
            <a:ext cx="15865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Thủ Đức, TP. Hồ Chí Minh</a:t>
            </a:r>
            <a:endParaRPr lang="en-US" sz="938" dirty="0"/>
          </a:p>
        </p:txBody>
      </p:sp>
      <p:sp>
        <p:nvSpPr>
          <p:cNvPr id="138" name="Text 103"/>
          <p:cNvSpPr/>
          <p:nvPr/>
        </p:nvSpPr>
        <p:spPr>
          <a:xfrm>
            <a:off x="3417570" y="8632745"/>
            <a:ext cx="24530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4.000.000đ </a:t>
            </a:r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/tháng</a:t>
            </a:r>
            <a:endParaRPr lang="en-US" sz="1000" dirty="0"/>
          </a:p>
        </p:txBody>
      </p:sp>
      <p:sp>
        <p:nvSpPr>
          <p:cNvPr id="139" name="Shape 104"/>
          <p:cNvSpPr/>
          <p:nvPr/>
        </p:nvSpPr>
        <p:spPr>
          <a:xfrm>
            <a:off x="3417570" y="8918495"/>
            <a:ext cx="2230041" cy="9525"/>
          </a:xfrm>
          <a:prstGeom prst="rect">
            <a:avLst/>
          </a:prstGeom>
          <a:solidFill>
            <a:srgbClr val="E5E8D9"/>
          </a:solidFill>
          <a:ln/>
        </p:spPr>
      </p:sp>
      <p:pic>
        <p:nvPicPr>
          <p:cNvPr id="140" name="Image 33" descr="preencoded.png">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3417570" y="9023270"/>
            <a:ext cx="133350" cy="133350"/>
          </a:xfrm>
          <a:prstGeom prst="rect">
            <a:avLst/>
          </a:prstGeom>
        </p:spPr>
      </p:pic>
      <p:sp>
        <p:nvSpPr>
          <p:cNvPr id="141" name="Text 105"/>
          <p:cNvSpPr/>
          <p:nvPr/>
        </p:nvSpPr>
        <p:spPr>
          <a:xfrm>
            <a:off x="3589020" y="9021365"/>
            <a:ext cx="208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38" dirty="0"/>
          </a:p>
        </p:txBody>
      </p:sp>
      <p:sp>
        <p:nvSpPr>
          <p:cNvPr id="142" name="Text 106"/>
          <p:cNvSpPr/>
          <p:nvPr/>
        </p:nvSpPr>
        <p:spPr>
          <a:xfrm>
            <a:off x="3759518" y="9021365"/>
            <a:ext cx="21502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m²</a:t>
            </a:r>
            <a:endParaRPr lang="en-US" sz="938" dirty="0"/>
          </a:p>
        </p:txBody>
      </p:sp>
      <p:pic>
        <p:nvPicPr>
          <p:cNvPr id="143" name="Image 34" descr="preencoded.png">    </p:cNvPr>
          <p:cNvPicPr>
            <a:picLocks noChangeAspect="1"/>
          </p:cNvPicPr>
          <p:nvPr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4031694" y="9023270"/>
            <a:ext cx="133350" cy="133350"/>
          </a:xfrm>
          <a:prstGeom prst="rect">
            <a:avLst/>
          </a:prstGeom>
        </p:spPr>
      </p:pic>
      <p:sp>
        <p:nvSpPr>
          <p:cNvPr id="144" name="Text 107"/>
          <p:cNvSpPr/>
          <p:nvPr/>
        </p:nvSpPr>
        <p:spPr>
          <a:xfrm>
            <a:off x="4203144" y="9021365"/>
            <a:ext cx="34754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</a:t>
            </a:r>
            <a:endParaRPr lang="en-US" sz="938" dirty="0"/>
          </a:p>
        </p:txBody>
      </p:sp>
      <p:sp>
        <p:nvSpPr>
          <p:cNvPr id="145" name="Text 108"/>
          <p:cNvSpPr/>
          <p:nvPr/>
        </p:nvSpPr>
        <p:spPr>
          <a:xfrm>
            <a:off x="4512588" y="9021365"/>
            <a:ext cx="14239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38" dirty="0"/>
          </a:p>
        </p:txBody>
      </p:sp>
      <p:pic>
        <p:nvPicPr>
          <p:cNvPr id="146" name="Image 35" descr="preencoded.png">    </p:cNvPr>
          <p:cNvPicPr>
            <a:picLocks noChangeAspect="1"/>
          </p:cNvPicPr>
          <p:nvPr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4712137" y="9023270"/>
            <a:ext cx="133350" cy="133350"/>
          </a:xfrm>
          <a:prstGeom prst="rect">
            <a:avLst/>
          </a:prstGeom>
        </p:spPr>
      </p:pic>
      <p:sp>
        <p:nvSpPr>
          <p:cNvPr id="147" name="Text 109"/>
          <p:cNvSpPr/>
          <p:nvPr/>
        </p:nvSpPr>
        <p:spPr>
          <a:xfrm>
            <a:off x="4883587" y="9021365"/>
            <a:ext cx="57233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riêng</a:t>
            </a:r>
            <a:endParaRPr lang="en-US" sz="938" dirty="0"/>
          </a:p>
        </p:txBody>
      </p:sp>
      <p:sp>
        <p:nvSpPr>
          <p:cNvPr id="148" name="Shape 110"/>
          <p:cNvSpPr/>
          <p:nvPr/>
        </p:nvSpPr>
        <p:spPr>
          <a:xfrm>
            <a:off x="5960031" y="6176724"/>
            <a:ext cx="2512100" cy="3122771"/>
          </a:xfrm>
          <a:prstGeom prst="roundRect">
            <a:avLst>
              <a:gd name="adj" fmla="val 6825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149" name="Image 36" descr="preencoded.png">    </p:cNvPr>
          <p:cNvPicPr>
            <a:picLocks noChangeAspect="1"/>
          </p:cNvPicPr>
          <p:nvPr/>
        </p:nvPicPr>
        <p:blipFill>
          <a:blip r:embed="rId68"/>
          <a:srcRect l="0" r="0" t="1361" b="1361"/>
          <a:stretch/>
        </p:blipFill>
        <p:spPr>
          <a:xfrm>
            <a:off x="5967651" y="6184344"/>
            <a:ext cx="2496860" cy="1619250"/>
          </a:xfrm>
          <a:prstGeom prst="rect">
            <a:avLst/>
          </a:prstGeom>
        </p:spPr>
      </p:pic>
      <p:sp>
        <p:nvSpPr>
          <p:cNvPr id="150" name="Shape 111"/>
          <p:cNvSpPr/>
          <p:nvPr/>
        </p:nvSpPr>
        <p:spPr>
          <a:xfrm>
            <a:off x="8045411" y="6298644"/>
            <a:ext cx="304800" cy="30480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151" name="Image 37" descr="preencoded.png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8121611" y="6374844"/>
            <a:ext cx="152400" cy="152400"/>
          </a:xfrm>
          <a:prstGeom prst="rect">
            <a:avLst/>
          </a:prstGeom>
        </p:spPr>
      </p:pic>
      <p:pic>
        <p:nvPicPr>
          <p:cNvPr id="152" name="Image 38" descr="preencoded.png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6101001" y="7943612"/>
            <a:ext cx="123825" cy="123825"/>
          </a:xfrm>
          <a:prstGeom prst="rect">
            <a:avLst/>
          </a:prstGeom>
        </p:spPr>
      </p:pic>
      <p:sp>
        <p:nvSpPr>
          <p:cNvPr id="153" name="Text 112"/>
          <p:cNvSpPr/>
          <p:nvPr/>
        </p:nvSpPr>
        <p:spPr>
          <a:xfrm>
            <a:off x="6253401" y="7936944"/>
            <a:ext cx="24169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938" dirty="0"/>
          </a:p>
        </p:txBody>
      </p:sp>
      <p:sp>
        <p:nvSpPr>
          <p:cNvPr id="154" name="Text 113"/>
          <p:cNvSpPr/>
          <p:nvPr/>
        </p:nvSpPr>
        <p:spPr>
          <a:xfrm>
            <a:off x="6101001" y="8155067"/>
            <a:ext cx="245317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6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yên tĩnh gần KCN</a:t>
            </a:r>
            <a:endParaRPr lang="en-US" sz="1163" dirty="0"/>
          </a:p>
        </p:txBody>
      </p:sp>
      <p:pic>
        <p:nvPicPr>
          <p:cNvPr id="155" name="Image 39" descr="preencoded.png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101001" y="8399383"/>
            <a:ext cx="123825" cy="123825"/>
          </a:xfrm>
          <a:prstGeom prst="rect">
            <a:avLst/>
          </a:prstGeom>
        </p:spPr>
      </p:pic>
      <p:sp>
        <p:nvSpPr>
          <p:cNvPr id="156" name="Text 114"/>
          <p:cNvSpPr/>
          <p:nvPr/>
        </p:nvSpPr>
        <p:spPr>
          <a:xfrm>
            <a:off x="6262926" y="8385095"/>
            <a:ext cx="159650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Bình Tân, TP. Hồ Chí Minh</a:t>
            </a:r>
            <a:endParaRPr lang="en-US" sz="938" dirty="0"/>
          </a:p>
        </p:txBody>
      </p:sp>
      <p:sp>
        <p:nvSpPr>
          <p:cNvPr id="157" name="Text 115"/>
          <p:cNvSpPr/>
          <p:nvPr/>
        </p:nvSpPr>
        <p:spPr>
          <a:xfrm>
            <a:off x="6101001" y="8632745"/>
            <a:ext cx="24531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3.500.000đ </a:t>
            </a:r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/tháng</a:t>
            </a:r>
            <a:endParaRPr lang="en-US" sz="1000" dirty="0"/>
          </a:p>
        </p:txBody>
      </p:sp>
      <p:sp>
        <p:nvSpPr>
          <p:cNvPr id="158" name="Shape 116"/>
          <p:cNvSpPr/>
          <p:nvPr/>
        </p:nvSpPr>
        <p:spPr>
          <a:xfrm>
            <a:off x="6101001" y="8918495"/>
            <a:ext cx="2230160" cy="9525"/>
          </a:xfrm>
          <a:prstGeom prst="rect">
            <a:avLst/>
          </a:prstGeom>
          <a:solidFill>
            <a:srgbClr val="E5E8D9"/>
          </a:solidFill>
          <a:ln/>
        </p:spPr>
      </p:sp>
      <p:pic>
        <p:nvPicPr>
          <p:cNvPr id="159" name="Image 40" descr="preencoded.png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6101001" y="9023270"/>
            <a:ext cx="133350" cy="133350"/>
          </a:xfrm>
          <a:prstGeom prst="rect">
            <a:avLst/>
          </a:prstGeom>
        </p:spPr>
      </p:pic>
      <p:sp>
        <p:nvSpPr>
          <p:cNvPr id="160" name="Text 117"/>
          <p:cNvSpPr/>
          <p:nvPr/>
        </p:nvSpPr>
        <p:spPr>
          <a:xfrm>
            <a:off x="6272451" y="9021365"/>
            <a:ext cx="208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38" dirty="0"/>
          </a:p>
        </p:txBody>
      </p:sp>
      <p:sp>
        <p:nvSpPr>
          <p:cNvPr id="161" name="Text 118"/>
          <p:cNvSpPr/>
          <p:nvPr/>
        </p:nvSpPr>
        <p:spPr>
          <a:xfrm>
            <a:off x="6442948" y="9021365"/>
            <a:ext cx="21502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m²</a:t>
            </a:r>
            <a:endParaRPr lang="en-US" sz="938" dirty="0"/>
          </a:p>
        </p:txBody>
      </p:sp>
      <p:pic>
        <p:nvPicPr>
          <p:cNvPr id="162" name="Image 41" descr="preencoded.png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6715125" y="9023270"/>
            <a:ext cx="133350" cy="133350"/>
          </a:xfrm>
          <a:prstGeom prst="rect">
            <a:avLst/>
          </a:prstGeom>
        </p:spPr>
      </p:pic>
      <p:sp>
        <p:nvSpPr>
          <p:cNvPr id="163" name="Text 119"/>
          <p:cNvSpPr/>
          <p:nvPr/>
        </p:nvSpPr>
        <p:spPr>
          <a:xfrm>
            <a:off x="6886575" y="9021365"/>
            <a:ext cx="34754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</a:t>
            </a:r>
            <a:endParaRPr lang="en-US" sz="938" dirty="0"/>
          </a:p>
        </p:txBody>
      </p:sp>
      <p:sp>
        <p:nvSpPr>
          <p:cNvPr id="164" name="Text 120"/>
          <p:cNvSpPr/>
          <p:nvPr/>
        </p:nvSpPr>
        <p:spPr>
          <a:xfrm>
            <a:off x="7196018" y="9021365"/>
            <a:ext cx="14239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38" dirty="0"/>
          </a:p>
        </p:txBody>
      </p:sp>
      <p:pic>
        <p:nvPicPr>
          <p:cNvPr id="165" name="Image 42" descr="preencoded.png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7395567" y="9023270"/>
            <a:ext cx="133350" cy="133350"/>
          </a:xfrm>
          <a:prstGeom prst="rect">
            <a:avLst/>
          </a:prstGeom>
        </p:spPr>
      </p:pic>
      <p:sp>
        <p:nvSpPr>
          <p:cNvPr id="166" name="Text 121"/>
          <p:cNvSpPr/>
          <p:nvPr/>
        </p:nvSpPr>
        <p:spPr>
          <a:xfrm>
            <a:off x="7567017" y="9021365"/>
            <a:ext cx="57233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riêng</a:t>
            </a:r>
            <a:endParaRPr lang="en-US" sz="938" dirty="0"/>
          </a:p>
        </p:txBody>
      </p:sp>
      <p:sp>
        <p:nvSpPr>
          <p:cNvPr id="167" name="Shape 122"/>
          <p:cNvSpPr/>
          <p:nvPr/>
        </p:nvSpPr>
        <p:spPr>
          <a:xfrm>
            <a:off x="8643581" y="6176724"/>
            <a:ext cx="2511981" cy="3122771"/>
          </a:xfrm>
          <a:prstGeom prst="roundRect">
            <a:avLst>
              <a:gd name="adj" fmla="val 6825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168" name="Image 43" descr="preencoded.png">    </p:cNvPr>
          <p:cNvPicPr>
            <a:picLocks noChangeAspect="1"/>
          </p:cNvPicPr>
          <p:nvPr/>
        </p:nvPicPr>
        <p:blipFill>
          <a:blip r:embed="rId81"/>
          <a:srcRect l="0" r="0" t="13244" b="13244"/>
          <a:stretch/>
        </p:blipFill>
        <p:spPr>
          <a:xfrm>
            <a:off x="8651200" y="6184344"/>
            <a:ext cx="2496741" cy="1619250"/>
          </a:xfrm>
          <a:prstGeom prst="rect">
            <a:avLst/>
          </a:prstGeom>
        </p:spPr>
      </p:pic>
      <p:sp>
        <p:nvSpPr>
          <p:cNvPr id="169" name="Shape 123"/>
          <p:cNvSpPr/>
          <p:nvPr/>
        </p:nvSpPr>
        <p:spPr>
          <a:xfrm>
            <a:off x="8765500" y="6298644"/>
            <a:ext cx="781050" cy="217170"/>
          </a:xfrm>
          <a:prstGeom prst="roundRect">
            <a:avLst>
              <a:gd name="adj" fmla="val 35088"/>
            </a:avLst>
          </a:prstGeom>
          <a:solidFill>
            <a:srgbClr val="3F4A1F"/>
          </a:solidFill>
          <a:ln/>
        </p:spPr>
      </p:sp>
      <p:pic>
        <p:nvPicPr>
          <p:cNvPr id="170" name="Image 44" descr="preencoded.png">    </p:cNvPr>
          <p:cNvPicPr>
            <a:picLocks noChangeAspect="1"/>
          </p:cNvPicPr>
          <p:nvPr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8860750" y="6350079"/>
            <a:ext cx="114300" cy="114300"/>
          </a:xfrm>
          <a:prstGeom prst="rect">
            <a:avLst/>
          </a:prstGeom>
        </p:spPr>
      </p:pic>
      <p:sp>
        <p:nvSpPr>
          <p:cNvPr id="171" name="Text 124"/>
          <p:cNvSpPr/>
          <p:nvPr/>
        </p:nvSpPr>
        <p:spPr>
          <a:xfrm>
            <a:off x="9013150" y="6346269"/>
            <a:ext cx="5143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NỔI BẬT</a:t>
            </a:r>
            <a:endParaRPr lang="en-US" sz="863" dirty="0"/>
          </a:p>
        </p:txBody>
      </p:sp>
      <p:sp>
        <p:nvSpPr>
          <p:cNvPr id="172" name="Shape 125"/>
          <p:cNvSpPr/>
          <p:nvPr/>
        </p:nvSpPr>
        <p:spPr>
          <a:xfrm>
            <a:off x="10728842" y="6298644"/>
            <a:ext cx="304800" cy="30480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173" name="Image 45" descr="preencoded.png">    </p:cNvPr>
          <p:cNvPicPr>
            <a:picLocks noChangeAspect="1"/>
          </p:cNvPicPr>
          <p:nvPr/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10805042" y="6374844"/>
            <a:ext cx="152400" cy="152400"/>
          </a:xfrm>
          <a:prstGeom prst="rect">
            <a:avLst/>
          </a:prstGeom>
        </p:spPr>
      </p:pic>
      <p:pic>
        <p:nvPicPr>
          <p:cNvPr id="174" name="Image 46" descr="preencoded.png">    </p:cNvPr>
          <p:cNvPicPr>
            <a:picLocks noChangeAspect="1"/>
          </p:cNvPicPr>
          <p:nvPr/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8784550" y="7943612"/>
            <a:ext cx="123825" cy="123825"/>
          </a:xfrm>
          <a:prstGeom prst="rect">
            <a:avLst/>
          </a:prstGeom>
        </p:spPr>
      </p:pic>
      <p:sp>
        <p:nvSpPr>
          <p:cNvPr id="175" name="Text 126"/>
          <p:cNvSpPr/>
          <p:nvPr/>
        </p:nvSpPr>
        <p:spPr>
          <a:xfrm>
            <a:off x="8936950" y="7936944"/>
            <a:ext cx="24169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938" dirty="0"/>
          </a:p>
        </p:txBody>
      </p:sp>
      <p:sp>
        <p:nvSpPr>
          <p:cNvPr id="176" name="Text 127"/>
          <p:cNvSpPr/>
          <p:nvPr/>
        </p:nvSpPr>
        <p:spPr>
          <a:xfrm>
            <a:off x="8784550" y="8155067"/>
            <a:ext cx="2453045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6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Căn hộ dịch vụ cao cấp</a:t>
            </a:r>
            <a:endParaRPr lang="en-US" sz="1163" dirty="0"/>
          </a:p>
        </p:txBody>
      </p:sp>
      <p:pic>
        <p:nvPicPr>
          <p:cNvPr id="177" name="Image 47" descr="preencoded.png">    </p:cNvPr>
          <p:cNvPicPr>
            <a:picLocks noChangeAspect="1"/>
          </p:cNvPicPr>
          <p:nvPr/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8784550" y="8399383"/>
            <a:ext cx="123825" cy="123825"/>
          </a:xfrm>
          <a:prstGeom prst="rect">
            <a:avLst/>
          </a:prstGeom>
        </p:spPr>
      </p:pic>
      <p:sp>
        <p:nvSpPr>
          <p:cNvPr id="178" name="Text 128"/>
          <p:cNvSpPr/>
          <p:nvPr/>
        </p:nvSpPr>
        <p:spPr>
          <a:xfrm>
            <a:off x="8946475" y="8385095"/>
            <a:ext cx="14795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Quận 1, TP. Hồ Chí Minh</a:t>
            </a:r>
            <a:endParaRPr lang="en-US" sz="938" dirty="0"/>
          </a:p>
        </p:txBody>
      </p:sp>
      <p:sp>
        <p:nvSpPr>
          <p:cNvPr id="179" name="Text 129"/>
          <p:cNvSpPr/>
          <p:nvPr/>
        </p:nvSpPr>
        <p:spPr>
          <a:xfrm>
            <a:off x="8784550" y="8632745"/>
            <a:ext cx="24530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6.500.000đ </a:t>
            </a:r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/tháng</a:t>
            </a:r>
            <a:endParaRPr lang="en-US" sz="1000" dirty="0"/>
          </a:p>
        </p:txBody>
      </p:sp>
      <p:sp>
        <p:nvSpPr>
          <p:cNvPr id="180" name="Shape 130"/>
          <p:cNvSpPr/>
          <p:nvPr/>
        </p:nvSpPr>
        <p:spPr>
          <a:xfrm>
            <a:off x="8784550" y="8918495"/>
            <a:ext cx="2230041" cy="9525"/>
          </a:xfrm>
          <a:prstGeom prst="rect">
            <a:avLst/>
          </a:prstGeom>
          <a:solidFill>
            <a:srgbClr val="E5E8D9"/>
          </a:solidFill>
          <a:ln/>
        </p:spPr>
      </p:sp>
      <p:pic>
        <p:nvPicPr>
          <p:cNvPr id="181" name="Image 48" descr="preencoded.png">    </p:cNvPr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8784550" y="9023270"/>
            <a:ext cx="133350" cy="133350"/>
          </a:xfrm>
          <a:prstGeom prst="rect">
            <a:avLst/>
          </a:prstGeom>
        </p:spPr>
      </p:pic>
      <p:sp>
        <p:nvSpPr>
          <p:cNvPr id="182" name="Text 131"/>
          <p:cNvSpPr/>
          <p:nvPr/>
        </p:nvSpPr>
        <p:spPr>
          <a:xfrm>
            <a:off x="8956000" y="9021365"/>
            <a:ext cx="208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38" dirty="0"/>
          </a:p>
        </p:txBody>
      </p:sp>
      <p:sp>
        <p:nvSpPr>
          <p:cNvPr id="183" name="Text 132"/>
          <p:cNvSpPr/>
          <p:nvPr/>
        </p:nvSpPr>
        <p:spPr>
          <a:xfrm>
            <a:off x="9126498" y="9021365"/>
            <a:ext cx="21502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m²</a:t>
            </a:r>
            <a:endParaRPr lang="en-US" sz="938" dirty="0"/>
          </a:p>
        </p:txBody>
      </p:sp>
      <p:pic>
        <p:nvPicPr>
          <p:cNvPr id="184" name="Image 49" descr="preencoded.png">    </p:cNvPr>
          <p:cNvPicPr>
            <a:picLocks noChangeAspect="1"/>
          </p:cNvPicPr>
          <p:nvPr/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9398675" y="9023270"/>
            <a:ext cx="133350" cy="133350"/>
          </a:xfrm>
          <a:prstGeom prst="rect">
            <a:avLst/>
          </a:prstGeom>
        </p:spPr>
      </p:pic>
      <p:sp>
        <p:nvSpPr>
          <p:cNvPr id="185" name="Text 133"/>
          <p:cNvSpPr/>
          <p:nvPr/>
        </p:nvSpPr>
        <p:spPr>
          <a:xfrm>
            <a:off x="9570125" y="9021365"/>
            <a:ext cx="34754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</a:t>
            </a:r>
            <a:endParaRPr lang="en-US" sz="938" dirty="0"/>
          </a:p>
        </p:txBody>
      </p:sp>
      <p:sp>
        <p:nvSpPr>
          <p:cNvPr id="186" name="Text 134"/>
          <p:cNvSpPr/>
          <p:nvPr/>
        </p:nvSpPr>
        <p:spPr>
          <a:xfrm>
            <a:off x="9879568" y="9021365"/>
            <a:ext cx="142399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38" dirty="0"/>
          </a:p>
        </p:txBody>
      </p:sp>
      <p:pic>
        <p:nvPicPr>
          <p:cNvPr id="187" name="Image 50" descr="preencoded.png">    </p:cNvPr>
          <p:cNvPicPr>
            <a:picLocks noChangeAspect="1"/>
          </p:cNvPicPr>
          <p:nvPr/>
        </p:nvPicPr>
        <p:blipFill>
          <a:blip r:embed="rId94"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10079117" y="9023270"/>
            <a:ext cx="133350" cy="133350"/>
          </a:xfrm>
          <a:prstGeom prst="rect">
            <a:avLst/>
          </a:prstGeom>
        </p:spPr>
      </p:pic>
      <p:sp>
        <p:nvSpPr>
          <p:cNvPr id="188" name="Text 135"/>
          <p:cNvSpPr/>
          <p:nvPr/>
        </p:nvSpPr>
        <p:spPr>
          <a:xfrm>
            <a:off x="10250567" y="9021365"/>
            <a:ext cx="57233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riêng</a:t>
            </a:r>
            <a:endParaRPr lang="en-US" sz="93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384281" cy="685800"/>
          </a:xfrm>
          <a:prstGeom prst="rect">
            <a:avLst/>
          </a:prstGeom>
          <a:solidFill>
            <a:srgbClr val="3F4A1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714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563" y="252413"/>
            <a:ext cx="180975" cy="1809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8650" y="232410"/>
            <a:ext cx="75771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836902" y="255270"/>
            <a:ext cx="749498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</a:t>
            </a:r>
            <a:endParaRPr lang="en-US" sz="1088" dirty="0"/>
          </a:p>
        </p:txBody>
      </p:sp>
      <p:sp>
        <p:nvSpPr>
          <p:cNvPr id="7" name="Text 4"/>
          <p:cNvSpPr/>
          <p:nvPr/>
        </p:nvSpPr>
        <p:spPr>
          <a:xfrm>
            <a:off x="3776901" y="255270"/>
            <a:ext cx="793433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phòng</a:t>
            </a:r>
            <a:endParaRPr lang="en-US" sz="1088" dirty="0"/>
          </a:p>
        </p:txBody>
      </p:sp>
      <p:sp>
        <p:nvSpPr>
          <p:cNvPr id="8" name="Text 5"/>
          <p:cNvSpPr/>
          <p:nvPr/>
        </p:nvSpPr>
        <p:spPr>
          <a:xfrm>
            <a:off x="4760833" y="255270"/>
            <a:ext cx="567928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ghép</a:t>
            </a:r>
            <a:endParaRPr lang="en-US" sz="1088" dirty="0"/>
          </a:p>
        </p:txBody>
      </p:sp>
      <p:sp>
        <p:nvSpPr>
          <p:cNvPr id="9" name="Text 6"/>
          <p:cNvSpPr/>
          <p:nvPr/>
        </p:nvSpPr>
        <p:spPr>
          <a:xfrm>
            <a:off x="5519261" y="255270"/>
            <a:ext cx="827127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Cộng đồng</a:t>
            </a:r>
            <a:endParaRPr lang="en-US" sz="1088" dirty="0"/>
          </a:p>
        </p:txBody>
      </p:sp>
      <p:sp>
        <p:nvSpPr>
          <p:cNvPr id="10" name="Shape 7"/>
          <p:cNvSpPr/>
          <p:nvPr/>
        </p:nvSpPr>
        <p:spPr>
          <a:xfrm>
            <a:off x="7835027" y="177165"/>
            <a:ext cx="1531144" cy="331470"/>
          </a:xfrm>
          <a:prstGeom prst="roundRect">
            <a:avLst>
              <a:gd name="adj" fmla="val 28736"/>
            </a:avLst>
          </a:prstGeom>
          <a:solidFill>
            <a:srgbClr val="F5A52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7902" y="271463"/>
            <a:ext cx="142875" cy="1428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77927" y="262890"/>
            <a:ext cx="11215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tin cho thuê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9499521" y="262890"/>
            <a:ext cx="72878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0361652" y="177165"/>
            <a:ext cx="794028" cy="331470"/>
          </a:xfrm>
          <a:prstGeom prst="roundRect">
            <a:avLst>
              <a:gd name="adj" fmla="val 28736"/>
            </a:avLst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>
            <a:off x="10475952" y="262890"/>
            <a:ext cx="56542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887855"/>
            <a:ext cx="152400" cy="1524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8150" y="1884045"/>
            <a:ext cx="713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phòng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28600" y="2196465"/>
            <a:ext cx="6445806" cy="42972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28600" y="5911215"/>
            <a:ext cx="1212890" cy="628650"/>
          </a:xfrm>
          <a:prstGeom prst="roundRect">
            <a:avLst>
              <a:gd name="adj" fmla="val 18182"/>
            </a:avLst>
          </a:prstGeom>
          <a:solidFill>
            <a:srgbClr val="F0F0F0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/>
          <a:srcRect l="0" r="0" t="2" b="2"/>
          <a:stretch/>
        </p:blipFill>
        <p:spPr>
          <a:xfrm>
            <a:off x="228600" y="5911215"/>
            <a:ext cx="1212890" cy="808553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1536740" y="5911215"/>
            <a:ext cx="1213009" cy="628650"/>
          </a:xfrm>
          <a:prstGeom prst="roundRect">
            <a:avLst>
              <a:gd name="adj" fmla="val 18182"/>
            </a:avLst>
          </a:prstGeom>
          <a:solidFill>
            <a:srgbClr val="F0F0F0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9"/>
          <a:srcRect l="0" r="0" t="3" b="3"/>
          <a:stretch/>
        </p:blipFill>
        <p:spPr>
          <a:xfrm>
            <a:off x="1536740" y="5911215"/>
            <a:ext cx="1213009" cy="90297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2844998" y="5911215"/>
            <a:ext cx="1212890" cy="628650"/>
          </a:xfrm>
          <a:prstGeom prst="roundRect">
            <a:avLst>
              <a:gd name="adj" fmla="val 18182"/>
            </a:avLst>
          </a:prstGeom>
          <a:solidFill>
            <a:srgbClr val="F0F0F0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0"/>
          <a:srcRect l="0" r="0" t="2" b="2"/>
          <a:stretch/>
        </p:blipFill>
        <p:spPr>
          <a:xfrm>
            <a:off x="2844998" y="5911215"/>
            <a:ext cx="1212890" cy="808553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4153138" y="5911215"/>
            <a:ext cx="1213009" cy="628650"/>
          </a:xfrm>
          <a:prstGeom prst="roundRect">
            <a:avLst>
              <a:gd name="adj" fmla="val 18182"/>
            </a:avLst>
          </a:prstGeom>
          <a:solidFill>
            <a:srgbClr val="F0F0F0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153138" y="5911215"/>
            <a:ext cx="1213009" cy="808673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5461397" y="5911215"/>
            <a:ext cx="1213009" cy="628650"/>
          </a:xfrm>
          <a:prstGeom prst="roundRect">
            <a:avLst>
              <a:gd name="adj" fmla="val 18182"/>
            </a:avLst>
          </a:prstGeom>
          <a:solidFill>
            <a:srgbClr val="F0F0F0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461397" y="5911215"/>
            <a:ext cx="1213009" cy="808673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228600" y="6787515"/>
            <a:ext cx="7090387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Tiện nghi</a:t>
            </a:r>
            <a:endParaRPr lang="en-US" sz="1425" dirty="0"/>
          </a:p>
        </p:txBody>
      </p:sp>
      <p:sp>
        <p:nvSpPr>
          <p:cNvPr id="30" name="Shape 19"/>
          <p:cNvSpPr/>
          <p:nvPr/>
        </p:nvSpPr>
        <p:spPr>
          <a:xfrm>
            <a:off x="228600" y="7115175"/>
            <a:ext cx="1539954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sp>
        <p:nvSpPr>
          <p:cNvPr id="31" name="Shape 20"/>
          <p:cNvSpPr/>
          <p:nvPr/>
        </p:nvSpPr>
        <p:spPr>
          <a:xfrm>
            <a:off x="827127" y="725614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DF0DF"/>
          </a:solidFill>
          <a:ln/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2852" y="7322820"/>
            <a:ext cx="171450" cy="17145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861298" y="7675245"/>
            <a:ext cx="27455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</a:t>
            </a:r>
            <a:endParaRPr lang="en-US" sz="938" dirty="0"/>
          </a:p>
        </p:txBody>
      </p:sp>
      <p:sp>
        <p:nvSpPr>
          <p:cNvPr id="34" name="Shape 22"/>
          <p:cNvSpPr/>
          <p:nvPr/>
        </p:nvSpPr>
        <p:spPr>
          <a:xfrm>
            <a:off x="1863804" y="7115175"/>
            <a:ext cx="1540073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sp>
        <p:nvSpPr>
          <p:cNvPr id="35" name="Shape 23"/>
          <p:cNvSpPr/>
          <p:nvPr/>
        </p:nvSpPr>
        <p:spPr>
          <a:xfrm>
            <a:off x="2462332" y="725614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DF0DF"/>
          </a:solidFill>
          <a:ln/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548057" y="7322820"/>
            <a:ext cx="171450" cy="17145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2354223" y="7675245"/>
            <a:ext cx="55923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Máy lạnh</a:t>
            </a:r>
            <a:endParaRPr lang="en-US" sz="938" dirty="0"/>
          </a:p>
        </p:txBody>
      </p:sp>
      <p:sp>
        <p:nvSpPr>
          <p:cNvPr id="38" name="Shape 25"/>
          <p:cNvSpPr/>
          <p:nvPr/>
        </p:nvSpPr>
        <p:spPr>
          <a:xfrm>
            <a:off x="3499128" y="7115175"/>
            <a:ext cx="1539954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sp>
        <p:nvSpPr>
          <p:cNvPr id="39" name="Shape 26"/>
          <p:cNvSpPr/>
          <p:nvPr/>
        </p:nvSpPr>
        <p:spPr>
          <a:xfrm>
            <a:off x="4097655" y="725614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DF0DF"/>
          </a:solidFill>
          <a:ln/>
        </p:spPr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183380" y="7322820"/>
            <a:ext cx="171450" cy="171450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4065508" y="7675245"/>
            <a:ext cx="40707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Bãi xe</a:t>
            </a:r>
            <a:endParaRPr lang="en-US" sz="938" dirty="0"/>
          </a:p>
        </p:txBody>
      </p:sp>
      <p:sp>
        <p:nvSpPr>
          <p:cNvPr id="42" name="Shape 28"/>
          <p:cNvSpPr/>
          <p:nvPr/>
        </p:nvSpPr>
        <p:spPr>
          <a:xfrm>
            <a:off x="5134333" y="7115175"/>
            <a:ext cx="1540073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sp>
        <p:nvSpPr>
          <p:cNvPr id="43" name="Shape 29"/>
          <p:cNvSpPr/>
          <p:nvPr/>
        </p:nvSpPr>
        <p:spPr>
          <a:xfrm>
            <a:off x="5732859" y="725614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DF0DF"/>
          </a:solidFill>
          <a:ln/>
        </p:spPr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818584" y="7322820"/>
            <a:ext cx="171450" cy="171450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5664398" y="7675245"/>
            <a:ext cx="479941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ninh</a:t>
            </a:r>
            <a:endParaRPr lang="en-US" sz="938" dirty="0"/>
          </a:p>
        </p:txBody>
      </p:sp>
      <p:sp>
        <p:nvSpPr>
          <p:cNvPr id="46" name="Text 31"/>
          <p:cNvSpPr/>
          <p:nvPr/>
        </p:nvSpPr>
        <p:spPr>
          <a:xfrm>
            <a:off x="228600" y="8201025"/>
            <a:ext cx="7090387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tả</a:t>
            </a:r>
            <a:endParaRPr lang="en-US" sz="1425" dirty="0"/>
          </a:p>
        </p:txBody>
      </p:sp>
      <p:sp>
        <p:nvSpPr>
          <p:cNvPr id="47" name="Text 32"/>
          <p:cNvSpPr/>
          <p:nvPr/>
        </p:nvSpPr>
        <p:spPr>
          <a:xfrm>
            <a:off x="228600" y="8509635"/>
            <a:ext cx="663918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88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Phòng thoáng mát có ban công riêng, view thoáng, gần chợ và siêu thị tiện đi lại.</a:t>
            </a:r>
            <a:endParaRPr lang="en-US" sz="1088" dirty="0"/>
          </a:p>
        </p:txBody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22056" y="2215515"/>
            <a:ext cx="133350" cy="133350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7083981" y="2209800"/>
            <a:ext cx="24836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75" dirty="0"/>
          </a:p>
        </p:txBody>
      </p:sp>
      <p:sp>
        <p:nvSpPr>
          <p:cNvPr id="50" name="Text 34"/>
          <p:cNvSpPr/>
          <p:nvPr/>
        </p:nvSpPr>
        <p:spPr>
          <a:xfrm>
            <a:off x="7284720" y="2209800"/>
            <a:ext cx="117515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75" dirty="0"/>
          </a:p>
        </p:txBody>
      </p:sp>
      <p:sp>
        <p:nvSpPr>
          <p:cNvPr id="51" name="Text 35"/>
          <p:cNvSpPr/>
          <p:nvPr/>
        </p:nvSpPr>
        <p:spPr>
          <a:xfrm>
            <a:off x="7354610" y="2209800"/>
            <a:ext cx="21395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75" dirty="0"/>
          </a:p>
        </p:txBody>
      </p:sp>
      <p:sp>
        <p:nvSpPr>
          <p:cNvPr id="52" name="Text 36"/>
          <p:cNvSpPr/>
          <p:nvPr/>
        </p:nvSpPr>
        <p:spPr>
          <a:xfrm>
            <a:off x="7520940" y="2209800"/>
            <a:ext cx="220623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m²</a:t>
            </a:r>
            <a:endParaRPr lang="en-US" sz="975" dirty="0"/>
          </a:p>
        </p:txBody>
      </p:sp>
      <p:sp>
        <p:nvSpPr>
          <p:cNvPr id="53" name="Text 37"/>
          <p:cNvSpPr/>
          <p:nvPr/>
        </p:nvSpPr>
        <p:spPr>
          <a:xfrm>
            <a:off x="6922056" y="2463165"/>
            <a:ext cx="4656987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b="1" spc="-30" kern="0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Phòng ban công thoáng mát</a:t>
            </a:r>
            <a:endParaRPr lang="en-US" sz="1875" dirty="0"/>
          </a:p>
        </p:txBody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922056" y="2834164"/>
            <a:ext cx="142875" cy="142875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7112556" y="2817971"/>
            <a:ext cx="168831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Quận 7, TP. Hồ Chí Minh</a:t>
            </a:r>
            <a:endParaRPr lang="en-US" sz="1050" dirty="0"/>
          </a:p>
        </p:txBody>
      </p:sp>
      <p:sp>
        <p:nvSpPr>
          <p:cNvPr id="56" name="Shape 39"/>
          <p:cNvSpPr/>
          <p:nvPr/>
        </p:nvSpPr>
        <p:spPr>
          <a:xfrm>
            <a:off x="6922056" y="4018121"/>
            <a:ext cx="4233624" cy="9525"/>
          </a:xfrm>
          <a:prstGeom prst="rect">
            <a:avLst/>
          </a:prstGeom>
          <a:solidFill>
            <a:srgbClr val="E5E8D9"/>
          </a:solidFill>
          <a:ln/>
        </p:spPr>
      </p:sp>
      <p:sp>
        <p:nvSpPr>
          <p:cNvPr id="57" name="Shape 40"/>
          <p:cNvSpPr/>
          <p:nvPr/>
        </p:nvSpPr>
        <p:spPr>
          <a:xfrm>
            <a:off x="6922056" y="3145631"/>
            <a:ext cx="4233624" cy="9525"/>
          </a:xfrm>
          <a:prstGeom prst="rect">
            <a:avLst/>
          </a:prstGeom>
          <a:solidFill>
            <a:srgbClr val="E5E8D9"/>
          </a:solidFill>
          <a:ln/>
        </p:spPr>
      </p:sp>
      <p:sp>
        <p:nvSpPr>
          <p:cNvPr id="58" name="Text 41"/>
          <p:cNvSpPr/>
          <p:nvPr/>
        </p:nvSpPr>
        <p:spPr>
          <a:xfrm>
            <a:off x="6922056" y="3305651"/>
            <a:ext cx="12680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4.500.000đ</a:t>
            </a:r>
            <a:endParaRPr lang="en-US" sz="1875" dirty="0"/>
          </a:p>
        </p:txBody>
      </p:sp>
      <p:sp>
        <p:nvSpPr>
          <p:cNvPr id="59" name="Text 42"/>
          <p:cNvSpPr/>
          <p:nvPr/>
        </p:nvSpPr>
        <p:spPr>
          <a:xfrm>
            <a:off x="8148995" y="3381851"/>
            <a:ext cx="52732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/tháng</a:t>
            </a:r>
            <a:endParaRPr lang="en-US" sz="1050" dirty="0"/>
          </a:p>
        </p:txBody>
      </p:sp>
      <p:pic>
        <p:nvPicPr>
          <p:cNvPr id="60" name="Image 15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922056" y="3718084"/>
            <a:ext cx="142875" cy="142875"/>
          </a:xfrm>
          <a:prstGeom prst="rect">
            <a:avLst/>
          </a:prstGeom>
        </p:spPr>
      </p:pic>
      <p:sp>
        <p:nvSpPr>
          <p:cNvPr id="61" name="Text 43"/>
          <p:cNvSpPr/>
          <p:nvPr/>
        </p:nvSpPr>
        <p:spPr>
          <a:xfrm>
            <a:off x="7112556" y="3713321"/>
            <a:ext cx="2191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13" dirty="0"/>
          </a:p>
        </p:txBody>
      </p:sp>
      <p:sp>
        <p:nvSpPr>
          <p:cNvPr id="62" name="Text 44"/>
          <p:cNvSpPr/>
          <p:nvPr/>
        </p:nvSpPr>
        <p:spPr>
          <a:xfrm>
            <a:off x="7303175" y="3713321"/>
            <a:ext cx="226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m²</a:t>
            </a:r>
            <a:endParaRPr lang="en-US" sz="1013" dirty="0"/>
          </a:p>
        </p:txBody>
      </p:sp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605475" y="3718084"/>
            <a:ext cx="142875" cy="142875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7795975" y="3713321"/>
            <a:ext cx="369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</a:t>
            </a:r>
            <a:endParaRPr lang="en-US" sz="1013" dirty="0"/>
          </a:p>
        </p:txBody>
      </p:sp>
      <p:sp>
        <p:nvSpPr>
          <p:cNvPr id="65" name="Text 46"/>
          <p:cNvSpPr/>
          <p:nvPr/>
        </p:nvSpPr>
        <p:spPr>
          <a:xfrm>
            <a:off x="8136612" y="3713321"/>
            <a:ext cx="14775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13" dirty="0"/>
          </a:p>
        </p:txBody>
      </p:sp>
      <p:pic>
        <p:nvPicPr>
          <p:cNvPr id="66" name="Image 17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360569" y="3718084"/>
            <a:ext cx="142875" cy="142875"/>
          </a:xfrm>
          <a:prstGeom prst="rect">
            <a:avLst/>
          </a:prstGeom>
        </p:spPr>
      </p:pic>
      <p:sp>
        <p:nvSpPr>
          <p:cNvPr id="67" name="Text 47"/>
          <p:cNvSpPr/>
          <p:nvPr/>
        </p:nvSpPr>
        <p:spPr>
          <a:xfrm>
            <a:off x="8551069" y="3713321"/>
            <a:ext cx="6119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riêng</a:t>
            </a:r>
            <a:endParaRPr lang="en-US" sz="1013" dirty="0"/>
          </a:p>
        </p:txBody>
      </p:sp>
      <p:sp>
        <p:nvSpPr>
          <p:cNvPr id="68" name="Shape 48"/>
          <p:cNvSpPr/>
          <p:nvPr/>
        </p:nvSpPr>
        <p:spPr>
          <a:xfrm>
            <a:off x="6922056" y="4178141"/>
            <a:ext cx="4233624" cy="461010"/>
          </a:xfrm>
          <a:prstGeom prst="roundRect">
            <a:avLst>
              <a:gd name="adj" fmla="val 26860"/>
            </a:avLst>
          </a:prstGeom>
          <a:solidFill>
            <a:srgbClr val="3F4A1F"/>
          </a:solidFill>
          <a:ln/>
        </p:spPr>
      </p:sp>
      <p:pic>
        <p:nvPicPr>
          <p:cNvPr id="69" name="Image 18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665012" y="4322921"/>
            <a:ext cx="171450" cy="171450"/>
          </a:xfrm>
          <a:prstGeom prst="rect">
            <a:avLst/>
          </a:prstGeom>
        </p:spPr>
      </p:pic>
      <p:sp>
        <p:nvSpPr>
          <p:cNvPr id="70" name="Text 49"/>
          <p:cNvSpPr/>
          <p:nvPr/>
        </p:nvSpPr>
        <p:spPr>
          <a:xfrm>
            <a:off x="8912662" y="4321016"/>
            <a:ext cx="57626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hệ</a:t>
            </a:r>
            <a:endParaRPr lang="en-US" sz="1200" dirty="0"/>
          </a:p>
        </p:txBody>
      </p:sp>
      <p:sp>
        <p:nvSpPr>
          <p:cNvPr id="71" name="Shape 50"/>
          <p:cNvSpPr/>
          <p:nvPr/>
        </p:nvSpPr>
        <p:spPr>
          <a:xfrm>
            <a:off x="6922056" y="4734401"/>
            <a:ext cx="4233624" cy="430530"/>
          </a:xfrm>
          <a:prstGeom prst="roundRect">
            <a:avLst>
              <a:gd name="adj" fmla="val 28761"/>
            </a:avLst>
          </a:prstGeom>
          <a:solidFill>
            <a:srgbClr val="FFFFFF"/>
          </a:solidFill>
          <a:ln w="7620">
            <a:solidFill>
              <a:srgbClr val="D9DCC2"/>
            </a:solidFill>
            <a:prstDash val="solid"/>
          </a:ln>
        </p:spPr>
      </p:sp>
      <p:pic>
        <p:nvPicPr>
          <p:cNvPr id="72" name="Image 19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482727" y="4868704"/>
            <a:ext cx="161925" cy="161925"/>
          </a:xfrm>
          <a:prstGeom prst="rect">
            <a:avLst/>
          </a:prstGeom>
        </p:spPr>
      </p:pic>
      <p:sp>
        <p:nvSpPr>
          <p:cNvPr id="73" name="Text 51"/>
          <p:cNvSpPr/>
          <p:nvPr/>
        </p:nvSpPr>
        <p:spPr>
          <a:xfrm>
            <a:off x="8720852" y="4865846"/>
            <a:ext cx="950357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yêu thích</a:t>
            </a:r>
            <a:endParaRPr lang="en-US" sz="1125" dirty="0"/>
          </a:p>
        </p:txBody>
      </p:sp>
      <p:sp>
        <p:nvSpPr>
          <p:cNvPr id="74" name="Shape 52"/>
          <p:cNvSpPr/>
          <p:nvPr/>
        </p:nvSpPr>
        <p:spPr>
          <a:xfrm>
            <a:off x="6922056" y="5336381"/>
            <a:ext cx="4233624" cy="720090"/>
          </a:xfrm>
          <a:prstGeom prst="roundRect">
            <a:avLst>
              <a:gd name="adj" fmla="val 18519"/>
            </a:avLst>
          </a:prstGeom>
          <a:ln w="7620">
            <a:solidFill>
              <a:srgbClr val="E5E8D9"/>
            </a:solidFill>
            <a:prstDash val="solid"/>
          </a:ln>
        </p:spPr>
      </p:sp>
      <p:sp>
        <p:nvSpPr>
          <p:cNvPr id="75" name="Shape 53"/>
          <p:cNvSpPr/>
          <p:nvPr/>
        </p:nvSpPr>
        <p:spPr>
          <a:xfrm>
            <a:off x="7063026" y="5477351"/>
            <a:ext cx="438150" cy="438150"/>
          </a:xfrm>
          <a:prstGeom prst="ellipse">
            <a:avLst/>
          </a:prstGeom>
          <a:solidFill>
            <a:srgbClr val="EDF0DF"/>
          </a:solidFill>
          <a:ln/>
        </p:spPr>
      </p:sp>
      <p:pic>
        <p:nvPicPr>
          <p:cNvPr id="76" name="Image 20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177326" y="5591651"/>
            <a:ext cx="209550" cy="209550"/>
          </a:xfrm>
          <a:prstGeom prst="rect">
            <a:avLst/>
          </a:prstGeom>
        </p:spPr>
      </p:pic>
      <p:sp>
        <p:nvSpPr>
          <p:cNvPr id="77" name="Text 54"/>
          <p:cNvSpPr/>
          <p:nvPr/>
        </p:nvSpPr>
        <p:spPr>
          <a:xfrm>
            <a:off x="7615476" y="5526881"/>
            <a:ext cx="1087517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Trần Minh Khoa</a:t>
            </a:r>
            <a:endParaRPr lang="en-US" sz="1125" dirty="0"/>
          </a:p>
        </p:txBody>
      </p:sp>
      <p:pic>
        <p:nvPicPr>
          <p:cNvPr id="78" name="Image 21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8683943" y="5539264"/>
            <a:ext cx="142875" cy="142875"/>
          </a:xfrm>
          <a:prstGeom prst="rect">
            <a:avLst/>
          </a:prstGeom>
        </p:spPr>
      </p:pic>
      <p:sp>
        <p:nvSpPr>
          <p:cNvPr id="79" name="Text 55"/>
          <p:cNvSpPr/>
          <p:nvPr/>
        </p:nvSpPr>
        <p:spPr>
          <a:xfrm>
            <a:off x="7615476" y="5713571"/>
            <a:ext cx="37391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xác thực · Thành viên 2 năm</a:t>
            </a:r>
            <a:endParaRPr lang="en-US" sz="93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529060" cy="685800"/>
          </a:xfrm>
          <a:prstGeom prst="rect">
            <a:avLst/>
          </a:prstGeom>
          <a:solidFill>
            <a:srgbClr val="3F4A1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714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563" y="252413"/>
            <a:ext cx="180975" cy="1809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8650" y="232410"/>
            <a:ext cx="75771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531150" y="255270"/>
            <a:ext cx="749498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</a:t>
            </a:r>
            <a:endParaRPr lang="en-US" sz="1088" dirty="0"/>
          </a:p>
        </p:txBody>
      </p:sp>
      <p:sp>
        <p:nvSpPr>
          <p:cNvPr id="7" name="Text 4"/>
          <p:cNvSpPr/>
          <p:nvPr/>
        </p:nvSpPr>
        <p:spPr>
          <a:xfrm>
            <a:off x="3471148" y="255270"/>
            <a:ext cx="793433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phòng</a:t>
            </a:r>
            <a:endParaRPr lang="en-US" sz="1088" dirty="0"/>
          </a:p>
        </p:txBody>
      </p:sp>
      <p:sp>
        <p:nvSpPr>
          <p:cNvPr id="8" name="Text 5"/>
          <p:cNvSpPr/>
          <p:nvPr/>
        </p:nvSpPr>
        <p:spPr>
          <a:xfrm>
            <a:off x="4455081" y="255270"/>
            <a:ext cx="567928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ghép</a:t>
            </a:r>
            <a:endParaRPr lang="en-US" sz="1088" dirty="0"/>
          </a:p>
        </p:txBody>
      </p:sp>
      <p:sp>
        <p:nvSpPr>
          <p:cNvPr id="9" name="Text 6"/>
          <p:cNvSpPr/>
          <p:nvPr/>
        </p:nvSpPr>
        <p:spPr>
          <a:xfrm>
            <a:off x="5213509" y="255270"/>
            <a:ext cx="827127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Cộng đồng</a:t>
            </a:r>
            <a:endParaRPr lang="en-US" sz="1088" dirty="0"/>
          </a:p>
        </p:txBody>
      </p:sp>
      <p:sp>
        <p:nvSpPr>
          <p:cNvPr id="10" name="Shape 7"/>
          <p:cNvSpPr/>
          <p:nvPr/>
        </p:nvSpPr>
        <p:spPr>
          <a:xfrm>
            <a:off x="7223403" y="1619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415" y="261937"/>
            <a:ext cx="161925" cy="16192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80603" y="1619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0615" y="261937"/>
            <a:ext cx="161925" cy="16192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137803" y="177165"/>
            <a:ext cx="1531144" cy="331470"/>
          </a:xfrm>
          <a:prstGeom prst="roundRect">
            <a:avLst>
              <a:gd name="adj" fmla="val 28736"/>
            </a:avLst>
          </a:prstGeom>
          <a:solidFill>
            <a:srgbClr val="F5A524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0678" y="271463"/>
            <a:ext cx="142875" cy="142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80703" y="262890"/>
            <a:ext cx="11215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tin cho thuê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9764197" y="161925"/>
            <a:ext cx="1536263" cy="361950"/>
          </a:xfrm>
          <a:prstGeom prst="roundRect">
            <a:avLst>
              <a:gd name="adj" fmla="val 26316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8" name="Shape 12"/>
          <p:cNvSpPr/>
          <p:nvPr/>
        </p:nvSpPr>
        <p:spPr>
          <a:xfrm>
            <a:off x="9811822" y="209550"/>
            <a:ext cx="266700" cy="266700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73735" y="271463"/>
            <a:ext cx="142875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116622" y="266700"/>
            <a:ext cx="8980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 Văn A</a:t>
            </a:r>
            <a:endParaRPr lang="en-US" sz="1013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52810" y="276225"/>
            <a:ext cx="133350" cy="13335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30630" y="3533775"/>
            <a:ext cx="183133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tin đăng</a:t>
            </a:r>
            <a:endParaRPr lang="en-US" sz="1800" dirty="0"/>
          </a:p>
        </p:txBody>
      </p:sp>
      <p:sp>
        <p:nvSpPr>
          <p:cNvPr id="23" name="Shape 15"/>
          <p:cNvSpPr/>
          <p:nvPr/>
        </p:nvSpPr>
        <p:spPr>
          <a:xfrm>
            <a:off x="8984099" y="3478530"/>
            <a:ext cx="1314331" cy="369570"/>
          </a:xfrm>
          <a:prstGeom prst="roundRect">
            <a:avLst>
              <a:gd name="adj" fmla="val 28351"/>
            </a:avLst>
          </a:prstGeom>
          <a:solidFill>
            <a:srgbClr val="3F4A1F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55549" y="3591878"/>
            <a:ext cx="142875" cy="14287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365099" y="3583305"/>
            <a:ext cx="8380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tin mới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1230630" y="4450080"/>
            <a:ext cx="9067800" cy="9525"/>
          </a:xfrm>
          <a:prstGeom prst="rect">
            <a:avLst/>
          </a:prstGeom>
          <a:solidFill>
            <a:srgbClr val="E5E8D9"/>
          </a:solidFill>
          <a:ln/>
        </p:spPr>
      </p:sp>
      <p:sp>
        <p:nvSpPr>
          <p:cNvPr id="27" name="Shape 18"/>
          <p:cNvSpPr/>
          <p:nvPr/>
        </p:nvSpPr>
        <p:spPr>
          <a:xfrm>
            <a:off x="1268730" y="4419600"/>
            <a:ext cx="1149310" cy="22860"/>
          </a:xfrm>
          <a:prstGeom prst="rect">
            <a:avLst/>
          </a:prstGeom>
          <a:solidFill>
            <a:srgbClr val="3F4A1F"/>
          </a:solidFill>
          <a:ln/>
        </p:spPr>
      </p:sp>
      <p:sp>
        <p:nvSpPr>
          <p:cNvPr id="28" name="Text 19"/>
          <p:cNvSpPr/>
          <p:nvPr/>
        </p:nvSpPr>
        <p:spPr>
          <a:xfrm>
            <a:off x="1230630" y="4152900"/>
            <a:ext cx="12255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Đang hoạt động (2)</a:t>
            </a:r>
            <a:endParaRPr lang="en-US" sz="1050" dirty="0"/>
          </a:p>
        </p:txBody>
      </p:sp>
      <p:sp>
        <p:nvSpPr>
          <p:cNvPr id="29" name="Text 20"/>
          <p:cNvSpPr/>
          <p:nvPr/>
        </p:nvSpPr>
        <p:spPr>
          <a:xfrm>
            <a:off x="2703790" y="4152900"/>
            <a:ext cx="89761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Chờ duyệt (2)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3849053" y="4152900"/>
            <a:ext cx="78057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Đang ẩn (1)</a:t>
            </a:r>
            <a:endParaRPr lang="en-US" sz="1050" dirty="0"/>
          </a:p>
        </p:txBody>
      </p:sp>
      <p:sp>
        <p:nvSpPr>
          <p:cNvPr id="31" name="Text 22"/>
          <p:cNvSpPr/>
          <p:nvPr/>
        </p:nvSpPr>
        <p:spPr>
          <a:xfrm>
            <a:off x="4877276" y="4152900"/>
            <a:ext cx="74342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Hết hạn (1)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1230630" y="4648200"/>
            <a:ext cx="9067800" cy="1196340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5"/>
          <a:srcRect l="0" r="0" t="2" b="2"/>
          <a:stretch/>
        </p:blipFill>
        <p:spPr>
          <a:xfrm>
            <a:off x="1371600" y="4789170"/>
            <a:ext cx="1238250" cy="82546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2762250" y="4789170"/>
            <a:ext cx="204023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Phòng ban công thoáng mát</a:t>
            </a:r>
            <a:endParaRPr lang="en-US" sz="1163" dirty="0"/>
          </a:p>
        </p:txBody>
      </p:sp>
      <p:sp>
        <p:nvSpPr>
          <p:cNvPr id="35" name="Shape 25"/>
          <p:cNvSpPr/>
          <p:nvPr/>
        </p:nvSpPr>
        <p:spPr>
          <a:xfrm>
            <a:off x="4693206" y="4791075"/>
            <a:ext cx="917258" cy="171450"/>
          </a:xfrm>
          <a:prstGeom prst="roundRect">
            <a:avLst>
              <a:gd name="adj" fmla="val 38889"/>
            </a:avLst>
          </a:prstGeom>
          <a:solidFill>
            <a:srgbClr val="EDF0DF"/>
          </a:solidFill>
          <a:ln/>
        </p:spPr>
      </p:sp>
      <p:sp>
        <p:nvSpPr>
          <p:cNvPr id="36" name="Text 26"/>
          <p:cNvSpPr/>
          <p:nvPr/>
        </p:nvSpPr>
        <p:spPr>
          <a:xfrm>
            <a:off x="4778931" y="4819650"/>
            <a:ext cx="82200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3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Đang hoạt động</a:t>
            </a:r>
            <a:endParaRPr lang="en-US" sz="825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762250" y="5035868"/>
            <a:ext cx="123825" cy="123825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2924175" y="5021580"/>
            <a:ext cx="15069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Quận 7, TP. Hồ Chí Minh</a:t>
            </a:r>
            <a:endParaRPr lang="en-US" sz="938" dirty="0"/>
          </a:p>
        </p:txBody>
      </p:sp>
      <p:sp>
        <p:nvSpPr>
          <p:cNvPr id="39" name="Text 28"/>
          <p:cNvSpPr/>
          <p:nvPr/>
        </p:nvSpPr>
        <p:spPr>
          <a:xfrm>
            <a:off x="2762250" y="5231130"/>
            <a:ext cx="113288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4.500.000đ</a:t>
            </a:r>
            <a:pPr algn="l" indent="0" marL="0">
              <a:buNone/>
            </a:pPr>
            <a:r>
              <a:rPr lang="en-US" sz="900" b="1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/tháng</a:t>
            </a:r>
            <a:endParaRPr lang="en-US" sz="1163" dirty="0"/>
          </a:p>
        </p:txBody>
      </p:sp>
      <p:sp>
        <p:nvSpPr>
          <p:cNvPr id="40" name="Text 29"/>
          <p:cNvSpPr/>
          <p:nvPr/>
        </p:nvSpPr>
        <p:spPr>
          <a:xfrm>
            <a:off x="3971330" y="5242560"/>
            <a:ext cx="8372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342 lượt xem</a:t>
            </a:r>
            <a:endParaRPr lang="en-US" sz="938" dirty="0"/>
          </a:p>
        </p:txBody>
      </p:sp>
      <p:sp>
        <p:nvSpPr>
          <p:cNvPr id="41" name="Text 30"/>
          <p:cNvSpPr/>
          <p:nvPr/>
        </p:nvSpPr>
        <p:spPr>
          <a:xfrm>
            <a:off x="4884777" y="5242560"/>
            <a:ext cx="8129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ngày trước</a:t>
            </a:r>
            <a:endParaRPr lang="en-US" sz="938" dirty="0"/>
          </a:p>
        </p:txBody>
      </p:sp>
      <p:sp>
        <p:nvSpPr>
          <p:cNvPr id="42" name="Shape 31"/>
          <p:cNvSpPr/>
          <p:nvPr/>
        </p:nvSpPr>
        <p:spPr>
          <a:xfrm>
            <a:off x="8919210" y="506539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023985" y="5170170"/>
            <a:ext cx="152400" cy="152400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9357360" y="506539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462135" y="5170170"/>
            <a:ext cx="152400" cy="152400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9795510" y="506539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900285" y="5170170"/>
            <a:ext cx="152400" cy="152400"/>
          </a:xfrm>
          <a:prstGeom prst="rect">
            <a:avLst/>
          </a:prstGeom>
        </p:spPr>
      </p:pic>
      <p:sp>
        <p:nvSpPr>
          <p:cNvPr id="48" name="Shape 34"/>
          <p:cNvSpPr/>
          <p:nvPr/>
        </p:nvSpPr>
        <p:spPr>
          <a:xfrm>
            <a:off x="1230630" y="5977890"/>
            <a:ext cx="9067800" cy="1196340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24"/>
          <a:srcRect l="0" r="0" t="1" b="1"/>
          <a:stretch/>
        </p:blipFill>
        <p:spPr>
          <a:xfrm>
            <a:off x="1371600" y="6118860"/>
            <a:ext cx="1238250" cy="921782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2762250" y="6118860"/>
            <a:ext cx="16967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Căn hộ mini full nội thất</a:t>
            </a:r>
            <a:endParaRPr lang="en-US" sz="1163" dirty="0"/>
          </a:p>
        </p:txBody>
      </p:sp>
      <p:sp>
        <p:nvSpPr>
          <p:cNvPr id="51" name="Shape 36"/>
          <p:cNvSpPr/>
          <p:nvPr/>
        </p:nvSpPr>
        <p:spPr>
          <a:xfrm>
            <a:off x="4380905" y="6120765"/>
            <a:ext cx="917258" cy="171450"/>
          </a:xfrm>
          <a:prstGeom prst="roundRect">
            <a:avLst>
              <a:gd name="adj" fmla="val 38889"/>
            </a:avLst>
          </a:prstGeom>
          <a:solidFill>
            <a:srgbClr val="EDF0DF"/>
          </a:solidFill>
          <a:ln/>
        </p:spPr>
      </p:sp>
      <p:sp>
        <p:nvSpPr>
          <p:cNvPr id="52" name="Text 37"/>
          <p:cNvSpPr/>
          <p:nvPr/>
        </p:nvSpPr>
        <p:spPr>
          <a:xfrm>
            <a:off x="4466630" y="6149340"/>
            <a:ext cx="82200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3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Đang hoạt động</a:t>
            </a:r>
            <a:endParaRPr lang="en-US" sz="825" dirty="0"/>
          </a:p>
        </p:txBody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762250" y="6365558"/>
            <a:ext cx="123825" cy="123825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2924175" y="6351270"/>
            <a:ext cx="17608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Bình Thạnh, TP. Hồ Chí Minh</a:t>
            </a:r>
            <a:endParaRPr lang="en-US" sz="938" dirty="0"/>
          </a:p>
        </p:txBody>
      </p:sp>
      <p:sp>
        <p:nvSpPr>
          <p:cNvPr id="55" name="Text 39"/>
          <p:cNvSpPr/>
          <p:nvPr/>
        </p:nvSpPr>
        <p:spPr>
          <a:xfrm>
            <a:off x="2762250" y="6560820"/>
            <a:ext cx="113288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5.200.000đ</a:t>
            </a:r>
            <a:pPr algn="l" indent="0" marL="0">
              <a:buNone/>
            </a:pPr>
            <a:r>
              <a:rPr lang="en-US" sz="900" b="1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/tháng</a:t>
            </a:r>
            <a:endParaRPr lang="en-US" sz="1163" dirty="0"/>
          </a:p>
        </p:txBody>
      </p:sp>
      <p:sp>
        <p:nvSpPr>
          <p:cNvPr id="56" name="Text 40"/>
          <p:cNvSpPr/>
          <p:nvPr/>
        </p:nvSpPr>
        <p:spPr>
          <a:xfrm>
            <a:off x="3971330" y="6572250"/>
            <a:ext cx="79890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518 lượt xem</a:t>
            </a:r>
            <a:endParaRPr lang="en-US" sz="938" dirty="0"/>
          </a:p>
        </p:txBody>
      </p:sp>
      <p:sp>
        <p:nvSpPr>
          <p:cNvPr id="57" name="Text 41"/>
          <p:cNvSpPr/>
          <p:nvPr/>
        </p:nvSpPr>
        <p:spPr>
          <a:xfrm>
            <a:off x="4846439" y="6572250"/>
            <a:ext cx="7118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giờ trước</a:t>
            </a:r>
            <a:endParaRPr lang="en-US" sz="938" dirty="0"/>
          </a:p>
        </p:txBody>
      </p:sp>
      <p:sp>
        <p:nvSpPr>
          <p:cNvPr id="58" name="Shape 42"/>
          <p:cNvSpPr/>
          <p:nvPr/>
        </p:nvSpPr>
        <p:spPr>
          <a:xfrm>
            <a:off x="8919210" y="639508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59" name="Image 14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023985" y="6499860"/>
            <a:ext cx="152400" cy="152400"/>
          </a:xfrm>
          <a:prstGeom prst="rect">
            <a:avLst/>
          </a:prstGeom>
        </p:spPr>
      </p:pic>
      <p:sp>
        <p:nvSpPr>
          <p:cNvPr id="60" name="Shape 43"/>
          <p:cNvSpPr/>
          <p:nvPr/>
        </p:nvSpPr>
        <p:spPr>
          <a:xfrm>
            <a:off x="9357360" y="639508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61" name="Image 15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462135" y="6499860"/>
            <a:ext cx="152400" cy="152400"/>
          </a:xfrm>
          <a:prstGeom prst="rect">
            <a:avLst/>
          </a:prstGeom>
        </p:spPr>
      </p:pic>
      <p:sp>
        <p:nvSpPr>
          <p:cNvPr id="62" name="Shape 44"/>
          <p:cNvSpPr/>
          <p:nvPr/>
        </p:nvSpPr>
        <p:spPr>
          <a:xfrm>
            <a:off x="9795510" y="639508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900285" y="649986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384281" cy="685800"/>
          </a:xfrm>
          <a:prstGeom prst="rect">
            <a:avLst/>
          </a:prstGeom>
          <a:solidFill>
            <a:srgbClr val="3F4A1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714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563" y="252413"/>
            <a:ext cx="180975" cy="1809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8650" y="232410"/>
            <a:ext cx="75771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458760" y="255270"/>
            <a:ext cx="749498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</a:t>
            </a:r>
            <a:endParaRPr lang="en-US" sz="1088" dirty="0"/>
          </a:p>
        </p:txBody>
      </p:sp>
      <p:sp>
        <p:nvSpPr>
          <p:cNvPr id="7" name="Text 4"/>
          <p:cNvSpPr/>
          <p:nvPr/>
        </p:nvSpPr>
        <p:spPr>
          <a:xfrm>
            <a:off x="3398758" y="255270"/>
            <a:ext cx="793433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phòng</a:t>
            </a:r>
            <a:endParaRPr lang="en-US" sz="1088" dirty="0"/>
          </a:p>
        </p:txBody>
      </p:sp>
      <p:sp>
        <p:nvSpPr>
          <p:cNvPr id="8" name="Text 5"/>
          <p:cNvSpPr/>
          <p:nvPr/>
        </p:nvSpPr>
        <p:spPr>
          <a:xfrm>
            <a:off x="4382691" y="255270"/>
            <a:ext cx="567928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ghép</a:t>
            </a:r>
            <a:endParaRPr lang="en-US" sz="1088" dirty="0"/>
          </a:p>
        </p:txBody>
      </p:sp>
      <p:sp>
        <p:nvSpPr>
          <p:cNvPr id="9" name="Text 6"/>
          <p:cNvSpPr/>
          <p:nvPr/>
        </p:nvSpPr>
        <p:spPr>
          <a:xfrm>
            <a:off x="5141119" y="255270"/>
            <a:ext cx="827127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Cộng đồng</a:t>
            </a:r>
            <a:endParaRPr lang="en-US" sz="1088" dirty="0"/>
          </a:p>
        </p:txBody>
      </p:sp>
      <p:sp>
        <p:nvSpPr>
          <p:cNvPr id="10" name="Shape 7"/>
          <p:cNvSpPr/>
          <p:nvPr/>
        </p:nvSpPr>
        <p:spPr>
          <a:xfrm>
            <a:off x="7078623" y="1619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8636" y="261937"/>
            <a:ext cx="161925" cy="16192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535823" y="1619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35836" y="261937"/>
            <a:ext cx="161925" cy="16192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993023" y="177165"/>
            <a:ext cx="1531144" cy="331470"/>
          </a:xfrm>
          <a:prstGeom prst="roundRect">
            <a:avLst>
              <a:gd name="adj" fmla="val 28736"/>
            </a:avLst>
          </a:prstGeom>
          <a:solidFill>
            <a:srgbClr val="F5A524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35898" y="271463"/>
            <a:ext cx="142875" cy="142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35923" y="262890"/>
            <a:ext cx="11215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tin cho thuê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9619417" y="161925"/>
            <a:ext cx="1536263" cy="361950"/>
          </a:xfrm>
          <a:prstGeom prst="roundRect">
            <a:avLst>
              <a:gd name="adj" fmla="val 26316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8" name="Shape 12"/>
          <p:cNvSpPr/>
          <p:nvPr/>
        </p:nvSpPr>
        <p:spPr>
          <a:xfrm>
            <a:off x="9667042" y="209550"/>
            <a:ext cx="266700" cy="266700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28954" y="271463"/>
            <a:ext cx="142875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971841" y="266700"/>
            <a:ext cx="8980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 Văn A</a:t>
            </a:r>
            <a:endParaRPr lang="en-US" sz="1013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908031" y="276225"/>
            <a:ext cx="133350" cy="133350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82240" y="2225040"/>
            <a:ext cx="152400" cy="1524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2891790" y="2221230"/>
            <a:ext cx="10473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tin đăng</a:t>
            </a:r>
            <a:endParaRPr lang="en-US" sz="1050" dirty="0"/>
          </a:p>
        </p:txBody>
      </p:sp>
      <p:sp>
        <p:nvSpPr>
          <p:cNvPr id="24" name="Shape 15"/>
          <p:cNvSpPr/>
          <p:nvPr/>
        </p:nvSpPr>
        <p:spPr>
          <a:xfrm>
            <a:off x="2952631" y="2552700"/>
            <a:ext cx="285750" cy="285750"/>
          </a:xfrm>
          <a:prstGeom prst="ellipse">
            <a:avLst/>
          </a:prstGeom>
          <a:solidFill>
            <a:srgbClr val="3F4A1F"/>
          </a:solidFill>
          <a:ln/>
        </p:spPr>
      </p:sp>
      <p:sp>
        <p:nvSpPr>
          <p:cNvPr id="25" name="Text 16"/>
          <p:cNvSpPr/>
          <p:nvPr/>
        </p:nvSpPr>
        <p:spPr>
          <a:xfrm>
            <a:off x="3060978" y="2623185"/>
            <a:ext cx="14513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26" name="Text 17"/>
          <p:cNvSpPr/>
          <p:nvPr/>
        </p:nvSpPr>
        <p:spPr>
          <a:xfrm>
            <a:off x="2682240" y="2895600"/>
            <a:ext cx="902851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1323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 cơ bản</a:t>
            </a:r>
            <a:endParaRPr lang="en-US" sz="863" dirty="0"/>
          </a:p>
        </p:txBody>
      </p:sp>
      <p:sp>
        <p:nvSpPr>
          <p:cNvPr id="27" name="Shape 18"/>
          <p:cNvSpPr/>
          <p:nvPr/>
        </p:nvSpPr>
        <p:spPr>
          <a:xfrm>
            <a:off x="3585091" y="2685097"/>
            <a:ext cx="1644253" cy="28575"/>
          </a:xfrm>
          <a:prstGeom prst="roundRect">
            <a:avLst>
              <a:gd name="adj" fmla="val 50000"/>
            </a:avLst>
          </a:prstGeom>
          <a:solidFill>
            <a:srgbClr val="E5E8D9"/>
          </a:solidFill>
          <a:ln/>
        </p:spPr>
      </p:sp>
      <p:sp>
        <p:nvSpPr>
          <p:cNvPr id="28" name="Shape 19"/>
          <p:cNvSpPr/>
          <p:nvPr/>
        </p:nvSpPr>
        <p:spPr>
          <a:xfrm>
            <a:off x="5641539" y="2552700"/>
            <a:ext cx="285750" cy="285750"/>
          </a:xfrm>
          <a:prstGeom prst="ellipse">
            <a:avLst/>
          </a:prstGeom>
          <a:solidFill>
            <a:srgbClr val="E5E8D9"/>
          </a:solidFill>
          <a:ln/>
        </p:spPr>
      </p:sp>
      <p:sp>
        <p:nvSpPr>
          <p:cNvPr id="29" name="Text 20"/>
          <p:cNvSpPr/>
          <p:nvPr/>
        </p:nvSpPr>
        <p:spPr>
          <a:xfrm>
            <a:off x="5749886" y="2623185"/>
            <a:ext cx="14513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30" name="Text 21"/>
          <p:cNvSpPr/>
          <p:nvPr/>
        </p:nvSpPr>
        <p:spPr>
          <a:xfrm>
            <a:off x="5305544" y="2895600"/>
            <a:ext cx="1033939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Tiện nghi &amp; lối sống</a:t>
            </a:r>
            <a:endParaRPr lang="en-US" sz="863" dirty="0"/>
          </a:p>
        </p:txBody>
      </p:sp>
      <p:sp>
        <p:nvSpPr>
          <p:cNvPr id="31" name="Shape 22"/>
          <p:cNvSpPr/>
          <p:nvPr/>
        </p:nvSpPr>
        <p:spPr>
          <a:xfrm>
            <a:off x="6339483" y="2685097"/>
            <a:ext cx="1513165" cy="28575"/>
          </a:xfrm>
          <a:prstGeom prst="roundRect">
            <a:avLst>
              <a:gd name="adj" fmla="val 50000"/>
            </a:avLst>
          </a:prstGeom>
          <a:solidFill>
            <a:srgbClr val="E5E8D9"/>
          </a:solidFill>
          <a:ln/>
        </p:spPr>
      </p:sp>
      <p:sp>
        <p:nvSpPr>
          <p:cNvPr id="32" name="Shape 23"/>
          <p:cNvSpPr/>
          <p:nvPr/>
        </p:nvSpPr>
        <p:spPr>
          <a:xfrm>
            <a:off x="8172569" y="2552700"/>
            <a:ext cx="285750" cy="285750"/>
          </a:xfrm>
          <a:prstGeom prst="ellipse">
            <a:avLst/>
          </a:prstGeom>
          <a:solidFill>
            <a:srgbClr val="E5E8D9"/>
          </a:solidFill>
          <a:ln/>
        </p:spPr>
      </p:sp>
      <p:sp>
        <p:nvSpPr>
          <p:cNvPr id="33" name="Text 24"/>
          <p:cNvSpPr/>
          <p:nvPr/>
        </p:nvSpPr>
        <p:spPr>
          <a:xfrm>
            <a:off x="8280916" y="2623185"/>
            <a:ext cx="14513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34" name="Text 25"/>
          <p:cNvSpPr/>
          <p:nvPr/>
        </p:nvSpPr>
        <p:spPr>
          <a:xfrm>
            <a:off x="7928848" y="2895600"/>
            <a:ext cx="849392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&amp; xác nhận</a:t>
            </a:r>
            <a:endParaRPr lang="en-US" sz="863" dirty="0"/>
          </a:p>
        </p:txBody>
      </p:sp>
      <p:sp>
        <p:nvSpPr>
          <p:cNvPr id="35" name="Shape 26"/>
          <p:cNvSpPr/>
          <p:nvPr/>
        </p:nvSpPr>
        <p:spPr>
          <a:xfrm>
            <a:off x="2682240" y="3265170"/>
            <a:ext cx="6019800" cy="5166360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  <a:effectLst>
            <a:outerShdw sx="100000" sy="100000" kx="0" ky="0" algn="bl" rotWithShape="0" blurRad="476250" dist="171450" dir="5400000">
              <a:srgbClr val="107245">
                <a:alpha val="6000"/>
              </a:srgbClr>
            </a:outerShdw>
          </a:effectLst>
        </p:spPr>
      </p:sp>
      <p:sp>
        <p:nvSpPr>
          <p:cNvPr id="36" name="Text 27"/>
          <p:cNvSpPr/>
          <p:nvPr/>
        </p:nvSpPr>
        <p:spPr>
          <a:xfrm>
            <a:off x="2937510" y="3520440"/>
            <a:ext cx="6060186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 cơ bản</a:t>
            </a:r>
            <a:endParaRPr lang="en-US" sz="1500" dirty="0"/>
          </a:p>
        </p:txBody>
      </p:sp>
      <p:sp>
        <p:nvSpPr>
          <p:cNvPr id="37" name="Text 28"/>
          <p:cNvSpPr/>
          <p:nvPr/>
        </p:nvSpPr>
        <p:spPr>
          <a:xfrm>
            <a:off x="2937510" y="3779520"/>
            <a:ext cx="606018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Điền thông tin phòng cho thuê của bạn</a:t>
            </a:r>
            <a:endParaRPr lang="en-US" sz="1013" dirty="0"/>
          </a:p>
        </p:txBody>
      </p:sp>
      <p:sp>
        <p:nvSpPr>
          <p:cNvPr id="38" name="Text 29"/>
          <p:cNvSpPr/>
          <p:nvPr/>
        </p:nvSpPr>
        <p:spPr>
          <a:xfrm>
            <a:off x="2937510" y="4130040"/>
            <a:ext cx="606018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đề tin *</a:t>
            </a:r>
            <a:endParaRPr lang="en-US" sz="975" dirty="0"/>
          </a:p>
        </p:txBody>
      </p:sp>
      <p:sp>
        <p:nvSpPr>
          <p:cNvPr id="39" name="Shape 30"/>
          <p:cNvSpPr/>
          <p:nvPr/>
        </p:nvSpPr>
        <p:spPr>
          <a:xfrm>
            <a:off x="2937510" y="4331970"/>
            <a:ext cx="5509260" cy="403860"/>
          </a:xfrm>
          <a:prstGeom prst="roundRect">
            <a:avLst>
              <a:gd name="adj" fmla="val 25943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37510" y="4331970"/>
            <a:ext cx="5509260" cy="40386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2937510" y="4869180"/>
            <a:ext cx="193624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thuê (đ/tháng) *</a:t>
            </a:r>
            <a:endParaRPr lang="en-US" sz="975" dirty="0"/>
          </a:p>
        </p:txBody>
      </p:sp>
      <p:sp>
        <p:nvSpPr>
          <p:cNvPr id="42" name="Shape 32"/>
          <p:cNvSpPr/>
          <p:nvPr/>
        </p:nvSpPr>
        <p:spPr>
          <a:xfrm>
            <a:off x="2937510" y="5071110"/>
            <a:ext cx="1760220" cy="403860"/>
          </a:xfrm>
          <a:prstGeom prst="roundRect">
            <a:avLst>
              <a:gd name="adj" fmla="val 25943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37510" y="5071110"/>
            <a:ext cx="1760220" cy="40386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4812030" y="4869180"/>
            <a:ext cx="193624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Diện tích (m²)</a:t>
            </a:r>
            <a:endParaRPr lang="en-US" sz="975" dirty="0"/>
          </a:p>
        </p:txBody>
      </p:sp>
      <p:sp>
        <p:nvSpPr>
          <p:cNvPr id="45" name="Shape 34"/>
          <p:cNvSpPr/>
          <p:nvPr/>
        </p:nvSpPr>
        <p:spPr>
          <a:xfrm>
            <a:off x="4812030" y="5071110"/>
            <a:ext cx="1760220" cy="403860"/>
          </a:xfrm>
          <a:prstGeom prst="roundRect">
            <a:avLst>
              <a:gd name="adj" fmla="val 25943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12030" y="5071110"/>
            <a:ext cx="1760220" cy="40386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6686550" y="4869180"/>
            <a:ext cx="193624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</a:t>
            </a:r>
            <a:endParaRPr lang="en-US" sz="975" dirty="0"/>
          </a:p>
        </p:txBody>
      </p:sp>
      <p:sp>
        <p:nvSpPr>
          <p:cNvPr id="48" name="Shape 36"/>
          <p:cNvSpPr/>
          <p:nvPr/>
        </p:nvSpPr>
        <p:spPr>
          <a:xfrm>
            <a:off x="6686550" y="5071110"/>
            <a:ext cx="1760220" cy="403860"/>
          </a:xfrm>
          <a:prstGeom prst="roundRect">
            <a:avLst>
              <a:gd name="adj" fmla="val 25943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86550" y="5071110"/>
            <a:ext cx="1760220" cy="403860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2937510" y="5608320"/>
            <a:ext cx="606018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Địa chỉ</a:t>
            </a:r>
            <a:endParaRPr lang="en-US" sz="975" dirty="0"/>
          </a:p>
        </p:txBody>
      </p:sp>
      <p:sp>
        <p:nvSpPr>
          <p:cNvPr id="51" name="Shape 38"/>
          <p:cNvSpPr/>
          <p:nvPr/>
        </p:nvSpPr>
        <p:spPr>
          <a:xfrm>
            <a:off x="2937510" y="5810250"/>
            <a:ext cx="5509260" cy="422910"/>
          </a:xfrm>
          <a:prstGeom prst="roundRect">
            <a:avLst>
              <a:gd name="adj" fmla="val 24775"/>
            </a:avLst>
          </a:prstGeom>
          <a:ln w="7620">
            <a:solidFill>
              <a:srgbClr val="E5E8D9"/>
            </a:solidFill>
            <a:prstDash val="solid"/>
          </a:ln>
        </p:spPr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068955" y="5945505"/>
            <a:ext cx="145852" cy="152400"/>
          </a:xfrm>
          <a:prstGeom prst="rect">
            <a:avLst/>
          </a:prstGeom>
        </p:spPr>
      </p:pic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91007" y="5932170"/>
            <a:ext cx="5024318" cy="179070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2937510" y="6366510"/>
            <a:ext cx="606018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tả chi tiết</a:t>
            </a:r>
            <a:endParaRPr lang="en-US" sz="975" dirty="0"/>
          </a:p>
        </p:txBody>
      </p:sp>
      <p:sp>
        <p:nvSpPr>
          <p:cNvPr id="55" name="Shape 40"/>
          <p:cNvSpPr/>
          <p:nvPr/>
        </p:nvSpPr>
        <p:spPr>
          <a:xfrm>
            <a:off x="2937510" y="6568440"/>
            <a:ext cx="5509260" cy="944880"/>
          </a:xfrm>
          <a:prstGeom prst="roundRect">
            <a:avLst>
              <a:gd name="adj" fmla="val 11089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937510" y="6568440"/>
            <a:ext cx="5509260" cy="944880"/>
          </a:xfrm>
          <a:prstGeom prst="rect">
            <a:avLst/>
          </a:prstGeom>
        </p:spPr>
      </p:pic>
      <p:sp>
        <p:nvSpPr>
          <p:cNvPr id="57" name="Shape 41"/>
          <p:cNvSpPr/>
          <p:nvPr/>
        </p:nvSpPr>
        <p:spPr>
          <a:xfrm>
            <a:off x="2937510" y="7741920"/>
            <a:ext cx="5509260" cy="434340"/>
          </a:xfrm>
          <a:prstGeom prst="roundRect">
            <a:avLst>
              <a:gd name="adj" fmla="val 26316"/>
            </a:avLst>
          </a:prstGeom>
          <a:solidFill>
            <a:srgbClr val="3F4A1F"/>
          </a:solidFill>
          <a:ln/>
        </p:spPr>
      </p:sp>
      <p:sp>
        <p:nvSpPr>
          <p:cNvPr id="58" name="Text 42"/>
          <p:cNvSpPr/>
          <p:nvPr/>
        </p:nvSpPr>
        <p:spPr>
          <a:xfrm>
            <a:off x="5326261" y="7875270"/>
            <a:ext cx="579239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tục</a:t>
            </a:r>
            <a:endParaRPr lang="en-US" sz="1125" dirty="0"/>
          </a:p>
        </p:txBody>
      </p:sp>
      <p:pic>
        <p:nvPicPr>
          <p:cNvPr id="59" name="Image 14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905500" y="788289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529060" cy="685800"/>
          </a:xfrm>
          <a:prstGeom prst="rect">
            <a:avLst/>
          </a:prstGeom>
          <a:solidFill>
            <a:srgbClr val="3F4A1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714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563" y="252413"/>
            <a:ext cx="180975" cy="1809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8650" y="232410"/>
            <a:ext cx="75771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531150" y="255270"/>
            <a:ext cx="749498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</a:t>
            </a:r>
            <a:endParaRPr lang="en-US" sz="1088" dirty="0"/>
          </a:p>
        </p:txBody>
      </p:sp>
      <p:sp>
        <p:nvSpPr>
          <p:cNvPr id="7" name="Text 4"/>
          <p:cNvSpPr/>
          <p:nvPr/>
        </p:nvSpPr>
        <p:spPr>
          <a:xfrm>
            <a:off x="3471148" y="255270"/>
            <a:ext cx="793433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phòng</a:t>
            </a:r>
            <a:endParaRPr lang="en-US" sz="1088" dirty="0"/>
          </a:p>
        </p:txBody>
      </p:sp>
      <p:sp>
        <p:nvSpPr>
          <p:cNvPr id="8" name="Text 5"/>
          <p:cNvSpPr/>
          <p:nvPr/>
        </p:nvSpPr>
        <p:spPr>
          <a:xfrm>
            <a:off x="4455081" y="255270"/>
            <a:ext cx="567928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ghép</a:t>
            </a:r>
            <a:endParaRPr lang="en-US" sz="1088" dirty="0"/>
          </a:p>
        </p:txBody>
      </p:sp>
      <p:sp>
        <p:nvSpPr>
          <p:cNvPr id="9" name="Text 6"/>
          <p:cNvSpPr/>
          <p:nvPr/>
        </p:nvSpPr>
        <p:spPr>
          <a:xfrm>
            <a:off x="5213509" y="255270"/>
            <a:ext cx="827127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Cộng đồng</a:t>
            </a:r>
            <a:endParaRPr lang="en-US" sz="1088" dirty="0"/>
          </a:p>
        </p:txBody>
      </p:sp>
      <p:sp>
        <p:nvSpPr>
          <p:cNvPr id="10" name="Shape 7"/>
          <p:cNvSpPr/>
          <p:nvPr/>
        </p:nvSpPr>
        <p:spPr>
          <a:xfrm>
            <a:off x="7223403" y="1619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415" y="261937"/>
            <a:ext cx="161925" cy="16192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80603" y="1619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0615" y="261937"/>
            <a:ext cx="161925" cy="16192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137803" y="177165"/>
            <a:ext cx="1531144" cy="331470"/>
          </a:xfrm>
          <a:prstGeom prst="roundRect">
            <a:avLst>
              <a:gd name="adj" fmla="val 28736"/>
            </a:avLst>
          </a:prstGeom>
          <a:solidFill>
            <a:srgbClr val="F5A524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0678" y="271463"/>
            <a:ext cx="142875" cy="142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80703" y="262890"/>
            <a:ext cx="11215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tin cho thuê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9764197" y="161925"/>
            <a:ext cx="1536263" cy="361950"/>
          </a:xfrm>
          <a:prstGeom prst="roundRect">
            <a:avLst>
              <a:gd name="adj" fmla="val 26316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8" name="Shape 12"/>
          <p:cNvSpPr/>
          <p:nvPr/>
        </p:nvSpPr>
        <p:spPr>
          <a:xfrm>
            <a:off x="9811822" y="209550"/>
            <a:ext cx="266700" cy="266700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73735" y="271463"/>
            <a:ext cx="142875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116622" y="266700"/>
            <a:ext cx="8980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 Văn A</a:t>
            </a:r>
            <a:endParaRPr lang="en-US" sz="1013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52810" y="276225"/>
            <a:ext cx="133350" cy="133350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54630" y="2726055"/>
            <a:ext cx="152400" cy="1524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2964180" y="2722245"/>
            <a:ext cx="10473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tin đăng</a:t>
            </a:r>
            <a:endParaRPr lang="en-US" sz="1050" dirty="0"/>
          </a:p>
        </p:txBody>
      </p:sp>
      <p:sp>
        <p:nvSpPr>
          <p:cNvPr id="24" name="Shape 15"/>
          <p:cNvSpPr/>
          <p:nvPr/>
        </p:nvSpPr>
        <p:spPr>
          <a:xfrm>
            <a:off x="3025021" y="3053715"/>
            <a:ext cx="285750" cy="285750"/>
          </a:xfrm>
          <a:prstGeom prst="ellipse">
            <a:avLst/>
          </a:prstGeom>
          <a:solidFill>
            <a:srgbClr val="3F4A1F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96458" y="3125153"/>
            <a:ext cx="142875" cy="14287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2754630" y="3396615"/>
            <a:ext cx="902851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 cơ bản</a:t>
            </a:r>
            <a:endParaRPr lang="en-US" sz="863" dirty="0"/>
          </a:p>
        </p:txBody>
      </p:sp>
      <p:sp>
        <p:nvSpPr>
          <p:cNvPr id="27" name="Shape 17"/>
          <p:cNvSpPr/>
          <p:nvPr/>
        </p:nvSpPr>
        <p:spPr>
          <a:xfrm>
            <a:off x="3657481" y="3186112"/>
            <a:ext cx="1644253" cy="28575"/>
          </a:xfrm>
          <a:prstGeom prst="roundRect">
            <a:avLst>
              <a:gd name="adj" fmla="val 50000"/>
            </a:avLst>
          </a:prstGeom>
          <a:solidFill>
            <a:srgbClr val="3F4A1F"/>
          </a:solidFill>
          <a:ln/>
        </p:spPr>
      </p:sp>
      <p:sp>
        <p:nvSpPr>
          <p:cNvPr id="28" name="Shape 18"/>
          <p:cNvSpPr/>
          <p:nvPr/>
        </p:nvSpPr>
        <p:spPr>
          <a:xfrm>
            <a:off x="5713929" y="3053715"/>
            <a:ext cx="285750" cy="285750"/>
          </a:xfrm>
          <a:prstGeom prst="ellipse">
            <a:avLst/>
          </a:prstGeom>
          <a:solidFill>
            <a:srgbClr val="3F4A1F"/>
          </a:solidFill>
          <a:ln/>
        </p:spPr>
      </p:sp>
      <p:sp>
        <p:nvSpPr>
          <p:cNvPr id="29" name="Text 19"/>
          <p:cNvSpPr/>
          <p:nvPr/>
        </p:nvSpPr>
        <p:spPr>
          <a:xfrm>
            <a:off x="5822275" y="3124200"/>
            <a:ext cx="14513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30" name="Text 20"/>
          <p:cNvSpPr/>
          <p:nvPr/>
        </p:nvSpPr>
        <p:spPr>
          <a:xfrm>
            <a:off x="5377934" y="3396615"/>
            <a:ext cx="1033939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1323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Tiện nghi &amp; lối sống</a:t>
            </a:r>
            <a:endParaRPr lang="en-US" sz="863" dirty="0"/>
          </a:p>
        </p:txBody>
      </p:sp>
      <p:sp>
        <p:nvSpPr>
          <p:cNvPr id="31" name="Shape 21"/>
          <p:cNvSpPr/>
          <p:nvPr/>
        </p:nvSpPr>
        <p:spPr>
          <a:xfrm>
            <a:off x="6411873" y="3186112"/>
            <a:ext cx="1513165" cy="28575"/>
          </a:xfrm>
          <a:prstGeom prst="roundRect">
            <a:avLst>
              <a:gd name="adj" fmla="val 50000"/>
            </a:avLst>
          </a:prstGeom>
          <a:solidFill>
            <a:srgbClr val="E5E8D9"/>
          </a:solidFill>
          <a:ln/>
        </p:spPr>
      </p:sp>
      <p:sp>
        <p:nvSpPr>
          <p:cNvPr id="32" name="Shape 22"/>
          <p:cNvSpPr/>
          <p:nvPr/>
        </p:nvSpPr>
        <p:spPr>
          <a:xfrm>
            <a:off x="8244959" y="3053715"/>
            <a:ext cx="285750" cy="285750"/>
          </a:xfrm>
          <a:prstGeom prst="ellipse">
            <a:avLst/>
          </a:prstGeom>
          <a:solidFill>
            <a:srgbClr val="E5E8D9"/>
          </a:solidFill>
          <a:ln/>
        </p:spPr>
      </p:sp>
      <p:sp>
        <p:nvSpPr>
          <p:cNvPr id="33" name="Text 23"/>
          <p:cNvSpPr/>
          <p:nvPr/>
        </p:nvSpPr>
        <p:spPr>
          <a:xfrm>
            <a:off x="8353306" y="3124200"/>
            <a:ext cx="14513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34" name="Text 24"/>
          <p:cNvSpPr/>
          <p:nvPr/>
        </p:nvSpPr>
        <p:spPr>
          <a:xfrm>
            <a:off x="8001238" y="3396615"/>
            <a:ext cx="849392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&amp; xác nhận</a:t>
            </a:r>
            <a:endParaRPr lang="en-US" sz="863" dirty="0"/>
          </a:p>
        </p:txBody>
      </p:sp>
      <p:sp>
        <p:nvSpPr>
          <p:cNvPr id="35" name="Shape 25"/>
          <p:cNvSpPr/>
          <p:nvPr/>
        </p:nvSpPr>
        <p:spPr>
          <a:xfrm>
            <a:off x="2754630" y="3766185"/>
            <a:ext cx="6019800" cy="416433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  <a:effectLst>
            <a:outerShdw sx="100000" sy="100000" kx="0" ky="0" algn="bl" rotWithShape="0" blurRad="476250" dist="171450" dir="5400000">
              <a:srgbClr val="107245">
                <a:alpha val="6000"/>
              </a:srgbClr>
            </a:outerShdw>
          </a:effectLst>
        </p:spPr>
      </p:sp>
      <p:sp>
        <p:nvSpPr>
          <p:cNvPr id="36" name="Text 26"/>
          <p:cNvSpPr/>
          <p:nvPr/>
        </p:nvSpPr>
        <p:spPr>
          <a:xfrm>
            <a:off x="3009900" y="4021455"/>
            <a:ext cx="6060186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Tiện nghi &amp; điều kiện sinh hoạt</a:t>
            </a:r>
            <a:endParaRPr lang="en-US" sz="1500" dirty="0"/>
          </a:p>
        </p:txBody>
      </p:sp>
      <p:sp>
        <p:nvSpPr>
          <p:cNvPr id="37" name="Text 27"/>
          <p:cNvSpPr/>
          <p:nvPr/>
        </p:nvSpPr>
        <p:spPr>
          <a:xfrm>
            <a:off x="3009900" y="4280535"/>
            <a:ext cx="606018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các tiện nghi và điều kiện phù hợp với phòng của bạn</a:t>
            </a:r>
            <a:endParaRPr lang="en-US" sz="1013" dirty="0"/>
          </a:p>
        </p:txBody>
      </p:sp>
      <p:sp>
        <p:nvSpPr>
          <p:cNvPr id="38" name="Text 28"/>
          <p:cNvSpPr/>
          <p:nvPr/>
        </p:nvSpPr>
        <p:spPr>
          <a:xfrm>
            <a:off x="3009900" y="4631055"/>
            <a:ext cx="606018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Tiện nghi</a:t>
            </a:r>
            <a:endParaRPr lang="en-US" sz="1013" dirty="0"/>
          </a:p>
        </p:txBody>
      </p:sp>
      <p:sp>
        <p:nvSpPr>
          <p:cNvPr id="39" name="Shape 29"/>
          <p:cNvSpPr/>
          <p:nvPr/>
        </p:nvSpPr>
        <p:spPr>
          <a:xfrm>
            <a:off x="3009900" y="4878705"/>
            <a:ext cx="734258" cy="396240"/>
          </a:xfrm>
          <a:prstGeom prst="roundRect">
            <a:avLst>
              <a:gd name="adj" fmla="val 26442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150870" y="4972050"/>
            <a:ext cx="171450" cy="17145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3350895" y="5000625"/>
            <a:ext cx="2903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</a:t>
            </a:r>
            <a:endParaRPr lang="en-US" sz="1013" dirty="0"/>
          </a:p>
        </p:txBody>
      </p:sp>
      <p:sp>
        <p:nvSpPr>
          <p:cNvPr id="42" name="Shape 31"/>
          <p:cNvSpPr/>
          <p:nvPr/>
        </p:nvSpPr>
        <p:spPr>
          <a:xfrm>
            <a:off x="3839408" y="4878705"/>
            <a:ext cx="1041678" cy="396240"/>
          </a:xfrm>
          <a:prstGeom prst="roundRect">
            <a:avLst>
              <a:gd name="adj" fmla="val 26442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980379" y="4972050"/>
            <a:ext cx="171450" cy="17145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180404" y="5000625"/>
            <a:ext cx="59781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Máy lạnh</a:t>
            </a:r>
            <a:endParaRPr lang="en-US" sz="1013" dirty="0"/>
          </a:p>
        </p:txBody>
      </p:sp>
      <p:sp>
        <p:nvSpPr>
          <p:cNvPr id="45" name="Shape 33"/>
          <p:cNvSpPr/>
          <p:nvPr/>
        </p:nvSpPr>
        <p:spPr>
          <a:xfrm>
            <a:off x="4976336" y="4878705"/>
            <a:ext cx="1005959" cy="396240"/>
          </a:xfrm>
          <a:prstGeom prst="roundRect">
            <a:avLst>
              <a:gd name="adj" fmla="val 26442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117306" y="4972050"/>
            <a:ext cx="171450" cy="171450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5317331" y="5000625"/>
            <a:ext cx="5620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Máy giặt</a:t>
            </a:r>
            <a:endParaRPr lang="en-US" sz="1013" dirty="0"/>
          </a:p>
        </p:txBody>
      </p:sp>
      <p:sp>
        <p:nvSpPr>
          <p:cNvPr id="48" name="Shape 35"/>
          <p:cNvSpPr/>
          <p:nvPr/>
        </p:nvSpPr>
        <p:spPr>
          <a:xfrm>
            <a:off x="6077545" y="4878705"/>
            <a:ext cx="948928" cy="396240"/>
          </a:xfrm>
          <a:prstGeom prst="roundRect">
            <a:avLst>
              <a:gd name="adj" fmla="val 26442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218515" y="4972050"/>
            <a:ext cx="171450" cy="171450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6418540" y="5000625"/>
            <a:ext cx="5050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Tủ lạnh</a:t>
            </a:r>
            <a:endParaRPr lang="en-US" sz="1013" dirty="0"/>
          </a:p>
        </p:txBody>
      </p:sp>
      <p:sp>
        <p:nvSpPr>
          <p:cNvPr id="51" name="Shape 37"/>
          <p:cNvSpPr/>
          <p:nvPr/>
        </p:nvSpPr>
        <p:spPr>
          <a:xfrm>
            <a:off x="7121723" y="4878705"/>
            <a:ext cx="877372" cy="396240"/>
          </a:xfrm>
          <a:prstGeom prst="roundRect">
            <a:avLst>
              <a:gd name="adj" fmla="val 26442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262693" y="4972050"/>
            <a:ext cx="171450" cy="171450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7462718" y="5000625"/>
            <a:ext cx="4335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Bãi xe</a:t>
            </a:r>
            <a:endParaRPr lang="en-US" sz="1013" dirty="0"/>
          </a:p>
        </p:txBody>
      </p:sp>
      <p:sp>
        <p:nvSpPr>
          <p:cNvPr id="54" name="Shape 39"/>
          <p:cNvSpPr/>
          <p:nvPr/>
        </p:nvSpPr>
        <p:spPr>
          <a:xfrm>
            <a:off x="3009900" y="5370195"/>
            <a:ext cx="977384" cy="396240"/>
          </a:xfrm>
          <a:prstGeom prst="roundRect">
            <a:avLst>
              <a:gd name="adj" fmla="val 26442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150870" y="5463540"/>
            <a:ext cx="171450" cy="171450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3350895" y="5492115"/>
            <a:ext cx="5335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013" dirty="0"/>
          </a:p>
        </p:txBody>
      </p:sp>
      <p:sp>
        <p:nvSpPr>
          <p:cNvPr id="57" name="Shape 41"/>
          <p:cNvSpPr/>
          <p:nvPr/>
        </p:nvSpPr>
        <p:spPr>
          <a:xfrm>
            <a:off x="4082534" y="5370195"/>
            <a:ext cx="1163241" cy="396240"/>
          </a:xfrm>
          <a:prstGeom prst="roundRect">
            <a:avLst>
              <a:gd name="adj" fmla="val 26442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223504" y="5463540"/>
            <a:ext cx="171450" cy="171450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4423529" y="5492115"/>
            <a:ext cx="7193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Thang máy</a:t>
            </a:r>
            <a:endParaRPr lang="en-US" sz="1013" dirty="0"/>
          </a:p>
        </p:txBody>
      </p:sp>
      <p:sp>
        <p:nvSpPr>
          <p:cNvPr id="60" name="Shape 43"/>
          <p:cNvSpPr/>
          <p:nvPr/>
        </p:nvSpPr>
        <p:spPr>
          <a:xfrm>
            <a:off x="5341025" y="5370195"/>
            <a:ext cx="956072" cy="396240"/>
          </a:xfrm>
          <a:prstGeom prst="roundRect">
            <a:avLst>
              <a:gd name="adj" fmla="val 26442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pic>
        <p:nvPicPr>
          <p:cNvPr id="61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481995" y="5463540"/>
            <a:ext cx="171450" cy="171450"/>
          </a:xfrm>
          <a:prstGeom prst="rect">
            <a:avLst/>
          </a:prstGeom>
        </p:spPr>
      </p:pic>
      <p:sp>
        <p:nvSpPr>
          <p:cNvPr id="62" name="Text 44"/>
          <p:cNvSpPr/>
          <p:nvPr/>
        </p:nvSpPr>
        <p:spPr>
          <a:xfrm>
            <a:off x="5682020" y="5492115"/>
            <a:ext cx="5122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ninh</a:t>
            </a:r>
            <a:endParaRPr lang="en-US" sz="1013" dirty="0"/>
          </a:p>
        </p:txBody>
      </p:sp>
      <p:sp>
        <p:nvSpPr>
          <p:cNvPr id="63" name="Text 45"/>
          <p:cNvSpPr/>
          <p:nvPr/>
        </p:nvSpPr>
        <p:spPr>
          <a:xfrm>
            <a:off x="3009900" y="5975985"/>
            <a:ext cx="606018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kiện sinh hoạt</a:t>
            </a:r>
            <a:endParaRPr lang="en-US" sz="1013" dirty="0"/>
          </a:p>
        </p:txBody>
      </p:sp>
      <p:sp>
        <p:nvSpPr>
          <p:cNvPr id="64" name="Shape 46"/>
          <p:cNvSpPr/>
          <p:nvPr/>
        </p:nvSpPr>
        <p:spPr>
          <a:xfrm>
            <a:off x="3009900" y="6223635"/>
            <a:ext cx="1102519" cy="339090"/>
          </a:xfrm>
          <a:prstGeom prst="roundRect">
            <a:avLst>
              <a:gd name="adj" fmla="val 30899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sp>
        <p:nvSpPr>
          <p:cNvPr id="65" name="Text 47"/>
          <p:cNvSpPr/>
          <p:nvPr/>
        </p:nvSpPr>
        <p:spPr>
          <a:xfrm>
            <a:off x="3112770" y="6316980"/>
            <a:ext cx="8967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Giờ giấc tự do</a:t>
            </a:r>
            <a:endParaRPr lang="en-US" sz="1013" dirty="0"/>
          </a:p>
        </p:txBody>
      </p:sp>
      <p:sp>
        <p:nvSpPr>
          <p:cNvPr id="66" name="Shape 48"/>
          <p:cNvSpPr/>
          <p:nvPr/>
        </p:nvSpPr>
        <p:spPr>
          <a:xfrm>
            <a:off x="4207669" y="6223635"/>
            <a:ext cx="1218367" cy="339090"/>
          </a:xfrm>
          <a:prstGeom prst="roundRect">
            <a:avLst>
              <a:gd name="adj" fmla="val 30899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sp>
        <p:nvSpPr>
          <p:cNvPr id="67" name="Text 49"/>
          <p:cNvSpPr/>
          <p:nvPr/>
        </p:nvSpPr>
        <p:spPr>
          <a:xfrm>
            <a:off x="4310539" y="6316980"/>
            <a:ext cx="101262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hút thuốc</a:t>
            </a:r>
            <a:endParaRPr lang="en-US" sz="1013" dirty="0"/>
          </a:p>
        </p:txBody>
      </p:sp>
      <p:sp>
        <p:nvSpPr>
          <p:cNvPr id="68" name="Shape 50"/>
          <p:cNvSpPr/>
          <p:nvPr/>
        </p:nvSpPr>
        <p:spPr>
          <a:xfrm>
            <a:off x="5521286" y="6223635"/>
            <a:ext cx="1431608" cy="339090"/>
          </a:xfrm>
          <a:prstGeom prst="roundRect">
            <a:avLst>
              <a:gd name="adj" fmla="val 30899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sp>
        <p:nvSpPr>
          <p:cNvPr id="69" name="Text 51"/>
          <p:cNvSpPr/>
          <p:nvPr/>
        </p:nvSpPr>
        <p:spPr>
          <a:xfrm>
            <a:off x="5624156" y="6316980"/>
            <a:ext cx="12258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Được nuôi thú cưng</a:t>
            </a:r>
            <a:endParaRPr lang="en-US" sz="1013" dirty="0"/>
          </a:p>
        </p:txBody>
      </p:sp>
      <p:sp>
        <p:nvSpPr>
          <p:cNvPr id="70" name="Shape 52"/>
          <p:cNvSpPr/>
          <p:nvPr/>
        </p:nvSpPr>
        <p:spPr>
          <a:xfrm>
            <a:off x="7048143" y="6223635"/>
            <a:ext cx="1055727" cy="339090"/>
          </a:xfrm>
          <a:prstGeom prst="roundRect">
            <a:avLst>
              <a:gd name="adj" fmla="val 30899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sp>
        <p:nvSpPr>
          <p:cNvPr id="71" name="Text 53"/>
          <p:cNvSpPr/>
          <p:nvPr/>
        </p:nvSpPr>
        <p:spPr>
          <a:xfrm>
            <a:off x="7151013" y="6316980"/>
            <a:ext cx="84998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ghép được</a:t>
            </a:r>
            <a:endParaRPr lang="en-US" sz="1013" dirty="0"/>
          </a:p>
        </p:txBody>
      </p:sp>
      <p:sp>
        <p:nvSpPr>
          <p:cNvPr id="72" name="Shape 54"/>
          <p:cNvSpPr/>
          <p:nvPr/>
        </p:nvSpPr>
        <p:spPr>
          <a:xfrm>
            <a:off x="3009900" y="6657975"/>
            <a:ext cx="899517" cy="339090"/>
          </a:xfrm>
          <a:prstGeom prst="roundRect">
            <a:avLst>
              <a:gd name="adj" fmla="val 30899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sp>
        <p:nvSpPr>
          <p:cNvPr id="73" name="Text 55"/>
          <p:cNvSpPr/>
          <p:nvPr/>
        </p:nvSpPr>
        <p:spPr>
          <a:xfrm>
            <a:off x="3112770" y="6751320"/>
            <a:ext cx="6937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tiên nữ</a:t>
            </a:r>
            <a:endParaRPr lang="en-US" sz="1013" dirty="0"/>
          </a:p>
        </p:txBody>
      </p:sp>
      <p:sp>
        <p:nvSpPr>
          <p:cNvPr id="74" name="Shape 56"/>
          <p:cNvSpPr/>
          <p:nvPr/>
        </p:nvSpPr>
        <p:spPr>
          <a:xfrm>
            <a:off x="4004667" y="6657975"/>
            <a:ext cx="1003935" cy="339090"/>
          </a:xfrm>
          <a:prstGeom prst="roundRect">
            <a:avLst>
              <a:gd name="adj" fmla="val 30899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sp>
        <p:nvSpPr>
          <p:cNvPr id="75" name="Text 57"/>
          <p:cNvSpPr/>
          <p:nvPr/>
        </p:nvSpPr>
        <p:spPr>
          <a:xfrm>
            <a:off x="4107537" y="6751320"/>
            <a:ext cx="7981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ninh 24/7</a:t>
            </a:r>
            <a:endParaRPr lang="en-US" sz="1013" dirty="0"/>
          </a:p>
        </p:txBody>
      </p:sp>
      <p:sp>
        <p:nvSpPr>
          <p:cNvPr id="76" name="Shape 58"/>
          <p:cNvSpPr/>
          <p:nvPr/>
        </p:nvSpPr>
        <p:spPr>
          <a:xfrm>
            <a:off x="3009900" y="7225665"/>
            <a:ext cx="1903690" cy="449580"/>
          </a:xfrm>
          <a:prstGeom prst="roundRect">
            <a:avLst>
              <a:gd name="adj" fmla="val 25424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sp>
        <p:nvSpPr>
          <p:cNvPr id="77" name="Text 59"/>
          <p:cNvSpPr/>
          <p:nvPr/>
        </p:nvSpPr>
        <p:spPr>
          <a:xfrm>
            <a:off x="3112770" y="7366635"/>
            <a:ext cx="169795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Quay lại</a:t>
            </a:r>
            <a:endParaRPr lang="en-US" sz="1125" dirty="0"/>
          </a:p>
        </p:txBody>
      </p:sp>
      <p:sp>
        <p:nvSpPr>
          <p:cNvPr id="78" name="Shape 60"/>
          <p:cNvSpPr/>
          <p:nvPr/>
        </p:nvSpPr>
        <p:spPr>
          <a:xfrm>
            <a:off x="5008840" y="7225665"/>
            <a:ext cx="3510320" cy="449580"/>
          </a:xfrm>
          <a:prstGeom prst="roundRect">
            <a:avLst>
              <a:gd name="adj" fmla="val 25424"/>
            </a:avLst>
          </a:prstGeom>
          <a:solidFill>
            <a:srgbClr val="3F4A1F"/>
          </a:solidFill>
          <a:ln/>
        </p:spPr>
      </p:sp>
      <p:sp>
        <p:nvSpPr>
          <p:cNvPr id="79" name="Text 61"/>
          <p:cNvSpPr/>
          <p:nvPr/>
        </p:nvSpPr>
        <p:spPr>
          <a:xfrm>
            <a:off x="5089535" y="7359015"/>
            <a:ext cx="334892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tục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529060" cy="685800"/>
          </a:xfrm>
          <a:prstGeom prst="rect">
            <a:avLst/>
          </a:prstGeom>
          <a:solidFill>
            <a:srgbClr val="3F4A1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714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563" y="252413"/>
            <a:ext cx="180975" cy="1809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8650" y="232410"/>
            <a:ext cx="75771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531150" y="255270"/>
            <a:ext cx="749498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</a:t>
            </a:r>
            <a:endParaRPr lang="en-US" sz="1088" dirty="0"/>
          </a:p>
        </p:txBody>
      </p:sp>
      <p:sp>
        <p:nvSpPr>
          <p:cNvPr id="7" name="Text 4"/>
          <p:cNvSpPr/>
          <p:nvPr/>
        </p:nvSpPr>
        <p:spPr>
          <a:xfrm>
            <a:off x="3471148" y="255270"/>
            <a:ext cx="793433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phòng</a:t>
            </a:r>
            <a:endParaRPr lang="en-US" sz="1088" dirty="0"/>
          </a:p>
        </p:txBody>
      </p:sp>
      <p:sp>
        <p:nvSpPr>
          <p:cNvPr id="8" name="Text 5"/>
          <p:cNvSpPr/>
          <p:nvPr/>
        </p:nvSpPr>
        <p:spPr>
          <a:xfrm>
            <a:off x="4455081" y="255270"/>
            <a:ext cx="567928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ghép</a:t>
            </a:r>
            <a:endParaRPr lang="en-US" sz="1088" dirty="0"/>
          </a:p>
        </p:txBody>
      </p:sp>
      <p:sp>
        <p:nvSpPr>
          <p:cNvPr id="9" name="Text 6"/>
          <p:cNvSpPr/>
          <p:nvPr/>
        </p:nvSpPr>
        <p:spPr>
          <a:xfrm>
            <a:off x="5213509" y="255270"/>
            <a:ext cx="827127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Cộng đồng</a:t>
            </a:r>
            <a:endParaRPr lang="en-US" sz="1088" dirty="0"/>
          </a:p>
        </p:txBody>
      </p:sp>
      <p:sp>
        <p:nvSpPr>
          <p:cNvPr id="10" name="Shape 7"/>
          <p:cNvSpPr/>
          <p:nvPr/>
        </p:nvSpPr>
        <p:spPr>
          <a:xfrm>
            <a:off x="7223403" y="1619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415" y="261937"/>
            <a:ext cx="161925" cy="16192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80603" y="1619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0615" y="261937"/>
            <a:ext cx="161925" cy="16192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137803" y="177165"/>
            <a:ext cx="1531144" cy="331470"/>
          </a:xfrm>
          <a:prstGeom prst="roundRect">
            <a:avLst>
              <a:gd name="adj" fmla="val 28736"/>
            </a:avLst>
          </a:prstGeom>
          <a:solidFill>
            <a:srgbClr val="F5A524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0678" y="271463"/>
            <a:ext cx="142875" cy="142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80703" y="262890"/>
            <a:ext cx="11215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tin cho thuê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9764197" y="161925"/>
            <a:ext cx="1536263" cy="361950"/>
          </a:xfrm>
          <a:prstGeom prst="roundRect">
            <a:avLst>
              <a:gd name="adj" fmla="val 26316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8" name="Shape 12"/>
          <p:cNvSpPr/>
          <p:nvPr/>
        </p:nvSpPr>
        <p:spPr>
          <a:xfrm>
            <a:off x="9811822" y="209550"/>
            <a:ext cx="266700" cy="266700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73735" y="271463"/>
            <a:ext cx="142875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116622" y="266700"/>
            <a:ext cx="8980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 Văn A</a:t>
            </a:r>
            <a:endParaRPr lang="en-US" sz="1013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52810" y="276225"/>
            <a:ext cx="133350" cy="133350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54630" y="2875597"/>
            <a:ext cx="152400" cy="1524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2964180" y="2871787"/>
            <a:ext cx="10473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tin đăng</a:t>
            </a:r>
            <a:endParaRPr lang="en-US" sz="1050" dirty="0"/>
          </a:p>
        </p:txBody>
      </p:sp>
      <p:sp>
        <p:nvSpPr>
          <p:cNvPr id="24" name="Shape 15"/>
          <p:cNvSpPr/>
          <p:nvPr/>
        </p:nvSpPr>
        <p:spPr>
          <a:xfrm>
            <a:off x="3025021" y="3203257"/>
            <a:ext cx="285750" cy="285750"/>
          </a:xfrm>
          <a:prstGeom prst="ellipse">
            <a:avLst/>
          </a:prstGeom>
          <a:solidFill>
            <a:srgbClr val="3F4A1F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96458" y="3274695"/>
            <a:ext cx="142875" cy="14287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2754630" y="3546157"/>
            <a:ext cx="902851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 cơ bản</a:t>
            </a:r>
            <a:endParaRPr lang="en-US" sz="863" dirty="0"/>
          </a:p>
        </p:txBody>
      </p:sp>
      <p:sp>
        <p:nvSpPr>
          <p:cNvPr id="27" name="Shape 17"/>
          <p:cNvSpPr/>
          <p:nvPr/>
        </p:nvSpPr>
        <p:spPr>
          <a:xfrm>
            <a:off x="3657481" y="3335654"/>
            <a:ext cx="1644253" cy="28575"/>
          </a:xfrm>
          <a:prstGeom prst="roundRect">
            <a:avLst>
              <a:gd name="adj" fmla="val 50000"/>
            </a:avLst>
          </a:prstGeom>
          <a:solidFill>
            <a:srgbClr val="3F4A1F"/>
          </a:solidFill>
          <a:ln/>
        </p:spPr>
      </p:sp>
      <p:sp>
        <p:nvSpPr>
          <p:cNvPr id="28" name="Shape 18"/>
          <p:cNvSpPr/>
          <p:nvPr/>
        </p:nvSpPr>
        <p:spPr>
          <a:xfrm>
            <a:off x="5713929" y="3203257"/>
            <a:ext cx="285750" cy="285750"/>
          </a:xfrm>
          <a:prstGeom prst="ellipse">
            <a:avLst/>
          </a:prstGeom>
          <a:solidFill>
            <a:srgbClr val="3F4A1F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85366" y="3274695"/>
            <a:ext cx="142875" cy="142875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377934" y="3546157"/>
            <a:ext cx="1033939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Tiện nghi &amp; lối sống</a:t>
            </a:r>
            <a:endParaRPr lang="en-US" sz="863" dirty="0"/>
          </a:p>
        </p:txBody>
      </p:sp>
      <p:sp>
        <p:nvSpPr>
          <p:cNvPr id="31" name="Shape 20"/>
          <p:cNvSpPr/>
          <p:nvPr/>
        </p:nvSpPr>
        <p:spPr>
          <a:xfrm>
            <a:off x="6411873" y="3335654"/>
            <a:ext cx="1513165" cy="28575"/>
          </a:xfrm>
          <a:prstGeom prst="roundRect">
            <a:avLst>
              <a:gd name="adj" fmla="val 50000"/>
            </a:avLst>
          </a:prstGeom>
          <a:solidFill>
            <a:srgbClr val="3F4A1F"/>
          </a:solidFill>
          <a:ln/>
        </p:spPr>
      </p:sp>
      <p:sp>
        <p:nvSpPr>
          <p:cNvPr id="32" name="Shape 21"/>
          <p:cNvSpPr/>
          <p:nvPr/>
        </p:nvSpPr>
        <p:spPr>
          <a:xfrm>
            <a:off x="8244959" y="3203257"/>
            <a:ext cx="285750" cy="285750"/>
          </a:xfrm>
          <a:prstGeom prst="ellipse">
            <a:avLst/>
          </a:prstGeom>
          <a:solidFill>
            <a:srgbClr val="3F4A1F"/>
          </a:solidFill>
          <a:ln/>
        </p:spPr>
      </p:sp>
      <p:sp>
        <p:nvSpPr>
          <p:cNvPr id="33" name="Text 22"/>
          <p:cNvSpPr/>
          <p:nvPr/>
        </p:nvSpPr>
        <p:spPr>
          <a:xfrm>
            <a:off x="8353306" y="3273742"/>
            <a:ext cx="14513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34" name="Text 23"/>
          <p:cNvSpPr/>
          <p:nvPr/>
        </p:nvSpPr>
        <p:spPr>
          <a:xfrm>
            <a:off x="8001238" y="3546157"/>
            <a:ext cx="849392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1323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&amp; xác nhận</a:t>
            </a:r>
            <a:endParaRPr lang="en-US" sz="863" dirty="0"/>
          </a:p>
        </p:txBody>
      </p:sp>
      <p:sp>
        <p:nvSpPr>
          <p:cNvPr id="35" name="Shape 24"/>
          <p:cNvSpPr/>
          <p:nvPr/>
        </p:nvSpPr>
        <p:spPr>
          <a:xfrm>
            <a:off x="2754630" y="3915727"/>
            <a:ext cx="6019800" cy="3865245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  <a:effectLst>
            <a:outerShdw sx="100000" sy="100000" kx="0" ky="0" algn="bl" rotWithShape="0" blurRad="476250" dist="171450" dir="5400000">
              <a:srgbClr val="107245">
                <a:alpha val="6000"/>
              </a:srgbClr>
            </a:outerShdw>
          </a:effectLst>
        </p:spPr>
      </p:sp>
      <p:sp>
        <p:nvSpPr>
          <p:cNvPr id="36" name="Text 25"/>
          <p:cNvSpPr/>
          <p:nvPr/>
        </p:nvSpPr>
        <p:spPr>
          <a:xfrm>
            <a:off x="3009900" y="4170997"/>
            <a:ext cx="6060186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&amp; xác nhận</a:t>
            </a:r>
            <a:endParaRPr lang="en-US" sz="1500" dirty="0"/>
          </a:p>
        </p:txBody>
      </p:sp>
      <p:sp>
        <p:nvSpPr>
          <p:cNvPr id="37" name="Text 26"/>
          <p:cNvSpPr/>
          <p:nvPr/>
        </p:nvSpPr>
        <p:spPr>
          <a:xfrm>
            <a:off x="3009900" y="4430077"/>
            <a:ext cx="606018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ảnh phòng và kiểm tra lại thông tin trước khi đăng</a:t>
            </a:r>
            <a:endParaRPr lang="en-US" sz="1013" dirty="0"/>
          </a:p>
        </p:txBody>
      </p:sp>
      <p:sp>
        <p:nvSpPr>
          <p:cNvPr id="38" name="Shape 27"/>
          <p:cNvSpPr/>
          <p:nvPr/>
        </p:nvSpPr>
        <p:spPr>
          <a:xfrm>
            <a:off x="3009900" y="4780597"/>
            <a:ext cx="1025604" cy="742950"/>
          </a:xfrm>
          <a:prstGeom prst="roundRect">
            <a:avLst>
              <a:gd name="adj" fmla="val 12821"/>
            </a:avLst>
          </a:prstGeom>
          <a:solidFill>
            <a:srgbClr val="EDF0DF"/>
          </a:solidFill>
          <a:ln w="7620">
            <a:solidFill>
              <a:srgbClr val="D9DCC2"/>
            </a:solidFill>
            <a:prstDash val="dash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436977" y="4986337"/>
            <a:ext cx="171450" cy="17145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3238024" y="5195887"/>
            <a:ext cx="569238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ảnh</a:t>
            </a:r>
            <a:endParaRPr lang="en-US" sz="863" dirty="0"/>
          </a:p>
        </p:txBody>
      </p:sp>
      <p:sp>
        <p:nvSpPr>
          <p:cNvPr id="41" name="Shape 29"/>
          <p:cNvSpPr/>
          <p:nvPr/>
        </p:nvSpPr>
        <p:spPr>
          <a:xfrm>
            <a:off x="3009900" y="5733097"/>
            <a:ext cx="5509260" cy="1133475"/>
          </a:xfrm>
          <a:prstGeom prst="roundRect">
            <a:avLst>
              <a:gd name="adj" fmla="val 11765"/>
            </a:avLst>
          </a:prstGeom>
          <a:solidFill>
            <a:srgbClr val="FBF7EE"/>
          </a:solidFill>
          <a:ln/>
        </p:spPr>
      </p:sp>
      <p:sp>
        <p:nvSpPr>
          <p:cNvPr id="42" name="Text 30"/>
          <p:cNvSpPr/>
          <p:nvPr/>
        </p:nvSpPr>
        <p:spPr>
          <a:xfrm>
            <a:off x="3162300" y="5885497"/>
            <a:ext cx="572490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lại tin đăng</a:t>
            </a:r>
            <a:endParaRPr lang="en-US" sz="1050" dirty="0"/>
          </a:p>
        </p:txBody>
      </p:sp>
      <p:sp>
        <p:nvSpPr>
          <p:cNvPr id="43" name="Text 31"/>
          <p:cNvSpPr/>
          <p:nvPr/>
        </p:nvSpPr>
        <p:spPr>
          <a:xfrm>
            <a:off x="3162300" y="6140767"/>
            <a:ext cx="572490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(Chưa có tiêu đề)</a:t>
            </a:r>
            <a:endParaRPr lang="en-US" sz="1088" dirty="0"/>
          </a:p>
        </p:txBody>
      </p:sp>
      <p:sp>
        <p:nvSpPr>
          <p:cNvPr id="44" name="Text 32"/>
          <p:cNvSpPr/>
          <p:nvPr/>
        </p:nvSpPr>
        <p:spPr>
          <a:xfrm>
            <a:off x="3162300" y="6329362"/>
            <a:ext cx="572490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56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địa chỉ</a:t>
            </a:r>
            <a:endParaRPr lang="en-US" sz="975" dirty="0"/>
          </a:p>
        </p:txBody>
      </p:sp>
      <p:sp>
        <p:nvSpPr>
          <p:cNvPr id="45" name="Text 33"/>
          <p:cNvSpPr/>
          <p:nvPr/>
        </p:nvSpPr>
        <p:spPr>
          <a:xfrm>
            <a:off x="3162300" y="6538912"/>
            <a:ext cx="572490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0đ </a:t>
            </a:r>
            <a:pPr algn="l" indent="0" marL="0">
              <a:buNone/>
            </a:pPr>
            <a:r>
              <a:rPr lang="en-US" sz="900" b="1" dirty="0">
                <a:solidFill>
                  <a:srgbClr val="8D9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/tháng · —</a:t>
            </a:r>
            <a:endParaRPr lang="en-US" sz="1200" dirty="0"/>
          </a:p>
        </p:txBody>
      </p:sp>
      <p:sp>
        <p:nvSpPr>
          <p:cNvPr id="46" name="Shape 34"/>
          <p:cNvSpPr/>
          <p:nvPr/>
        </p:nvSpPr>
        <p:spPr>
          <a:xfrm>
            <a:off x="3009900" y="7076122"/>
            <a:ext cx="1903690" cy="449580"/>
          </a:xfrm>
          <a:prstGeom prst="roundRect">
            <a:avLst>
              <a:gd name="adj" fmla="val 25424"/>
            </a:avLst>
          </a:prstGeom>
          <a:solidFill>
            <a:srgbClr val="FFFFFF"/>
          </a:solidFill>
          <a:ln w="7620">
            <a:solidFill>
              <a:srgbClr val="E5E8D9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3112770" y="7217092"/>
            <a:ext cx="169795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Quay lại</a:t>
            </a:r>
            <a:endParaRPr lang="en-US" sz="1125" dirty="0"/>
          </a:p>
        </p:txBody>
      </p:sp>
      <p:sp>
        <p:nvSpPr>
          <p:cNvPr id="48" name="Shape 36"/>
          <p:cNvSpPr/>
          <p:nvPr/>
        </p:nvSpPr>
        <p:spPr>
          <a:xfrm>
            <a:off x="5008840" y="7076122"/>
            <a:ext cx="3510320" cy="449580"/>
          </a:xfrm>
          <a:prstGeom prst="roundRect">
            <a:avLst>
              <a:gd name="adj" fmla="val 25424"/>
            </a:avLst>
          </a:prstGeom>
          <a:solidFill>
            <a:srgbClr val="3F4A1F"/>
          </a:solidFill>
          <a:ln/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03990" y="7219950"/>
            <a:ext cx="161925" cy="161925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6442115" y="7217092"/>
            <a:ext cx="957977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tin ngay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2026-07-01T10:23:10Z</dcterms:created>
  <dcterms:modified xsi:type="dcterms:W3CDTF">2026-07-01T10:23:10Z</dcterms:modified>
</cp:coreProperties>
</file>